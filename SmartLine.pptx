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Lst>
  <p:notesMasterIdLst>
    <p:notesMasterId r:id="rId16"/>
  </p:notesMasterIdLst>
  <p:sldIdLst>
    <p:sldId id="269" r:id="rId3"/>
    <p:sldId id="257" r:id="rId4"/>
    <p:sldId id="256" r:id="rId5"/>
    <p:sldId id="258" r:id="rId6"/>
    <p:sldId id="270" r:id="rId7"/>
    <p:sldId id="260" r:id="rId8"/>
    <p:sldId id="261" r:id="rId9"/>
    <p:sldId id="262" r:id="rId10"/>
    <p:sldId id="263" r:id="rId11"/>
    <p:sldId id="264" r:id="rId12"/>
    <p:sldId id="265" r:id="rId13"/>
    <p:sldId id="268" r:id="rId14"/>
    <p:sldId id="271" r:id="rId15"/>
  </p:sldIdLst>
  <p:sldSz cx="11887200" cy="8448675"/>
  <p:notesSz cx="8448675" cy="11887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14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11111"/>
                </a:solidFill>
                <a:latin typeface="Poppins"/>
              </a:defRPr>
            </a:pPr>
            <a:r>
              <a:rPr lang="tr-TR" sz="1600" b="0" i="0" u="none" strike="noStrike" dirty="0">
                <a:solidFill>
                  <a:srgbClr val="111111"/>
                </a:solidFill>
                <a:latin typeface="Poppins"/>
              </a:rPr>
              <a:t>Gəlir artımı (</a:t>
            </a:r>
            <a:r>
              <a:rPr lang="en-US" sz="1600" b="0" i="0" u="none" strike="noStrike" dirty="0">
                <a:solidFill>
                  <a:srgbClr val="111111"/>
                </a:solidFill>
                <a:latin typeface="Poppins"/>
              </a:rPr>
              <a:t>$</a:t>
            </a:r>
            <a:r>
              <a:rPr lang="tr-TR" sz="1600" b="0" i="0" u="none" strike="noStrike" dirty="0">
                <a:solidFill>
                  <a:srgbClr val="111111"/>
                </a:solidFill>
                <a:latin typeface="Poppins"/>
              </a:rPr>
              <a:t>)</a:t>
            </a:r>
          </a:p>
        </c:rich>
      </c:tx>
      <c:overlay val="0"/>
    </c:title>
    <c:autoTitleDeleted val="0"/>
    <c:plotArea>
      <c:layout>
        <c:manualLayout>
          <c:layoutTarget val="inner"/>
          <c:xMode val="edge"/>
          <c:yMode val="edge"/>
          <c:x val="1.9586894586894586E-2"/>
          <c:y val="9.3315972222222224E-2"/>
          <c:w val="0.96082621082621078"/>
          <c:h val="0.76179120188101501"/>
        </c:manualLayout>
      </c:layout>
      <c:barChart>
        <c:barDir val="col"/>
        <c:grouping val="clustered"/>
        <c:varyColors val="0"/>
        <c:ser>
          <c:idx val="0"/>
          <c:order val="0"/>
          <c:tx>
            <c:strRef>
              <c:f>Sheet1!$B$1</c:f>
              <c:strCache>
                <c:ptCount val="1"/>
                <c:pt idx="0">
                  <c:v>Gəlir ($)</c:v>
                </c:pt>
              </c:strCache>
            </c:strRef>
          </c:tx>
          <c:spPr>
            <a:solidFill>
              <a:srgbClr val="9BDD8A"/>
            </a:solidFill>
            <a:effectLst/>
          </c:spPr>
          <c:invertIfNegative val="0"/>
          <c:dPt>
            <c:idx val="0"/>
            <c:invertIfNegative val="0"/>
            <c:bubble3D val="0"/>
            <c:extLst>
              <c:ext xmlns:c16="http://schemas.microsoft.com/office/drawing/2014/chart" uri="{C3380CC4-5D6E-409C-BE32-E72D297353CC}">
                <c16:uniqueId val="{00000001-9563-4BD3-8A79-64E214E6A792}"/>
              </c:ext>
            </c:extLst>
          </c:dPt>
          <c:dPt>
            <c:idx val="1"/>
            <c:invertIfNegative val="0"/>
            <c:bubble3D val="0"/>
            <c:spPr>
              <a:solidFill>
                <a:srgbClr val="52C03C"/>
              </a:solidFill>
              <a:effectLst/>
            </c:spPr>
            <c:extLst>
              <c:ext xmlns:c16="http://schemas.microsoft.com/office/drawing/2014/chart" uri="{C3380CC4-5D6E-409C-BE32-E72D297353CC}">
                <c16:uniqueId val="{00000003-9563-4BD3-8A79-64E214E6A792}"/>
              </c:ext>
            </c:extLst>
          </c:dPt>
          <c:dPt>
            <c:idx val="2"/>
            <c:invertIfNegative val="0"/>
            <c:bubble3D val="0"/>
            <c:spPr>
              <a:solidFill>
                <a:srgbClr val="1A6B1A"/>
              </a:solidFill>
              <a:effectLst/>
            </c:spPr>
            <c:extLst>
              <c:ext xmlns:c16="http://schemas.microsoft.com/office/drawing/2014/chart" uri="{C3380CC4-5D6E-409C-BE32-E72D297353CC}">
                <c16:uniqueId val="{00000005-9563-4BD3-8A79-64E214E6A792}"/>
              </c:ext>
            </c:extLst>
          </c:dPt>
          <c:dLbls>
            <c:numFmt formatCode="\$#,##0" sourceLinked="0"/>
            <c:spPr>
              <a:noFill/>
              <a:ln>
                <a:noFill/>
              </a:ln>
              <a:effectLst/>
            </c:spPr>
            <c:txPr>
              <a:bodyPr/>
              <a:lstStyle/>
              <a:p>
                <a:pPr>
                  <a:defRPr sz="1600" b="1" i="0" u="none" strike="noStrike">
                    <a:solidFill>
                      <a:srgbClr val="111111"/>
                    </a:solidFill>
                    <a:latin typeface="Poppins"/>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1-ci il
Pilot</c:v>
                </c:pt>
                <c:pt idx="1">
                  <c:v>2-ci il
Genişlənmə</c:v>
                </c:pt>
                <c:pt idx="2">
                  <c:v>3-cü il
Miqyaslanma</c:v>
                </c:pt>
              </c:strCache>
            </c:strRef>
          </c:cat>
          <c:val>
            <c:numRef>
              <c:f>Sheet1!$B$2:$B$4</c:f>
              <c:numCache>
                <c:formatCode>General</c:formatCode>
                <c:ptCount val="3"/>
                <c:pt idx="0">
                  <c:v>5600</c:v>
                </c:pt>
                <c:pt idx="1">
                  <c:v>67100</c:v>
                </c:pt>
                <c:pt idx="2" formatCode="#,##0">
                  <c:v>220400</c:v>
                </c:pt>
              </c:numCache>
            </c:numRef>
          </c:val>
          <c:extLst>
            <c:ext xmlns:c16="http://schemas.microsoft.com/office/drawing/2014/chart" uri="{C3380CC4-5D6E-409C-BE32-E72D297353CC}">
              <c16:uniqueId val="{00000006-9563-4BD3-8A79-64E214E6A79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11111"/>
                </a:solidFill>
                <a:latin typeface="Poppins"/>
              </a:defRPr>
            </a:pPr>
            <a:endParaRPr lang="en-US"/>
          </a:p>
        </c:txPr>
        <c:crossAx val="2094734552"/>
        <c:crosses val="autoZero"/>
        <c:auto val="1"/>
        <c:lblAlgn val="ctr"/>
        <c:lblOffset val="100"/>
        <c:noMultiLvlLbl val="1"/>
      </c:catAx>
      <c:valAx>
        <c:axId val="2094734552"/>
        <c:scaling>
          <c:orientation val="minMax"/>
          <c:max val="52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513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dirty="0"/>
              <a:t>Fatma nənə Xırdalanda yaşayır. Onun küçəsində su borusu partlayıb və o, şikayət etmək istəyir. O, bələdiyyəyə müraciət etməli, ərizə təqdim etməli və onun nəzərdən keçirilməsini gözləməlidir. Məhz buna görə biz SmartLine-ı yaratdıq.</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0C66-E804-920B-B9C5-21C6B2E8B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77E83-D673-AF0D-48FB-C6CBBE55B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2B42E-E7C3-CB6B-829A-25C81E602D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1AA90-1A13-F9CC-DAE9-AC5959AC92E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25102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_ONL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33984" y="580847"/>
            <a:ext cx="10566400" cy="1056084"/>
          </a:xfrm>
          <a:prstGeom prst="rect">
            <a:avLst/>
          </a:prstGeom>
          <a:noFill/>
          <a:ln/>
        </p:spPr>
        <p:txBody>
          <a:bodyPr wrap="square" rtlCol="0"/>
          <a:lstStyle>
            <a:lvl1pPr marL="0" indent="0" algn="l">
              <a:buNone/>
              <a:defRPr lang="en-US" sz="3696" dirty="0">
                <a:solidFill>
                  <a:schemeClr val="tx1"/>
                </a:solidFill>
              </a:defRPr>
            </a:lvl1pPr>
          </a:lstStyle>
          <a:p>
            <a:pPr marL="0" indent="0" algn="l">
              <a:buNone/>
            </a:pPr>
            <a:endParaRPr lang="en-US" sz="3696" dirty="0"/>
          </a:p>
        </p:txBody>
      </p:sp>
    </p:spTree>
    <p:extLst>
      <p:ext uri="{BB962C8B-B14F-4D97-AF65-F5344CB8AC3E}">
        <p14:creationId xmlns:p14="http://schemas.microsoft.com/office/powerpoint/2010/main" val="322239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LANK_WHIT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199293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5383228"/>
      </p:ext>
    </p:extLst>
  </p:cSld>
  <p:clrMap bg1="lt1" tx1="dk1" bg2="lt2" tx2="dk2" accent1="accent1" accent2="accent2" accent3="accent3" accent4="accent4" accent5="accent5" accent6="accent6" hlink="hlink" folHlink="folHlink"/>
  <p:sldLayoutIdLst>
    <p:sldLayoutId id="2147483653" r:id="rId1"/>
    <p:sldLayoutId id="2147483654" r:id="rId2"/>
  </p:sldLayoutIdLst>
  <p:hf sldNum="0" hdr="0" ftr="0" dt="0"/>
  <p:txStyles>
    <p:titleStyle>
      <a:lvl1pPr algn="ctr" defTabSz="1056041" rtl="0" eaLnBrk="1" latinLnBrk="0" hangingPunct="1">
        <a:spcBef>
          <a:spcPct val="0"/>
        </a:spcBef>
        <a:buNone/>
        <a:defRPr sz="5082" kern="1200">
          <a:solidFill>
            <a:schemeClr val="tx1"/>
          </a:solidFill>
          <a:latin typeface="+mj-lt"/>
          <a:ea typeface="+mj-ea"/>
          <a:cs typeface="+mj-cs"/>
        </a:defRPr>
      </a:lvl1pPr>
    </p:titleStyle>
    <p:bodyStyle>
      <a:lvl1pPr marL="396015" indent="-396015" algn="l" defTabSz="1056041" rtl="0" eaLnBrk="1" latinLnBrk="0" hangingPunct="1">
        <a:spcBef>
          <a:spcPct val="20000"/>
        </a:spcBef>
        <a:buFont typeface="Arial" pitchFamily="34" charset="0"/>
        <a:buChar char="•"/>
        <a:defRPr sz="3696" kern="1200">
          <a:solidFill>
            <a:schemeClr val="tx1"/>
          </a:solidFill>
          <a:latin typeface="+mn-lt"/>
          <a:ea typeface="+mn-ea"/>
          <a:cs typeface="+mn-cs"/>
        </a:defRPr>
      </a:lvl1pPr>
      <a:lvl2pPr marL="858033" indent="-330013" algn="l" defTabSz="1056041" rtl="0" eaLnBrk="1" latinLnBrk="0" hangingPunct="1">
        <a:spcBef>
          <a:spcPct val="20000"/>
        </a:spcBef>
        <a:buFont typeface="Arial" pitchFamily="34" charset="0"/>
        <a:buChar char="–"/>
        <a:defRPr sz="3234" kern="1200">
          <a:solidFill>
            <a:schemeClr val="tx1"/>
          </a:solidFill>
          <a:latin typeface="+mn-lt"/>
          <a:ea typeface="+mn-ea"/>
          <a:cs typeface="+mn-cs"/>
        </a:defRPr>
      </a:lvl2pPr>
      <a:lvl3pPr marL="1320051" indent="-264010" algn="l" defTabSz="1056041" rtl="0" eaLnBrk="1" latinLnBrk="0" hangingPunct="1">
        <a:spcBef>
          <a:spcPct val="20000"/>
        </a:spcBef>
        <a:buFont typeface="Arial" pitchFamily="34" charset="0"/>
        <a:buChar char="•"/>
        <a:defRPr sz="2772" kern="1200">
          <a:solidFill>
            <a:schemeClr val="tx1"/>
          </a:solidFill>
          <a:latin typeface="+mn-lt"/>
          <a:ea typeface="+mn-ea"/>
          <a:cs typeface="+mn-cs"/>
        </a:defRPr>
      </a:lvl3pPr>
      <a:lvl4pPr marL="1848071"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4pPr>
      <a:lvl5pPr marL="2376091"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5pPr>
      <a:lvl6pPr marL="290411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6pPr>
      <a:lvl7pPr marL="343213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7pPr>
      <a:lvl8pPr marL="396015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8pPr>
      <a:lvl9pPr marL="4488172" indent="-264010" algn="l" defTabSz="1056041" rtl="0" eaLnBrk="1" latinLnBrk="0" hangingPunct="1">
        <a:spcBef>
          <a:spcPct val="20000"/>
        </a:spcBef>
        <a:buFont typeface="Arial" pitchFamily="34" charset="0"/>
        <a:buChar char="•"/>
        <a:defRPr sz="2310" kern="1200">
          <a:solidFill>
            <a:schemeClr val="tx1"/>
          </a:solidFill>
          <a:latin typeface="+mn-lt"/>
          <a:ea typeface="+mn-ea"/>
          <a:cs typeface="+mn-cs"/>
        </a:defRPr>
      </a:lvl9pPr>
    </p:bodyStyle>
    <p:otherStyle>
      <a:defPPr>
        <a:defRPr lang="en-US"/>
      </a:defPPr>
      <a:lvl1pPr marL="0" algn="l" defTabSz="1056041" rtl="0" eaLnBrk="1" latinLnBrk="0" hangingPunct="1">
        <a:defRPr sz="2079" kern="1200">
          <a:solidFill>
            <a:schemeClr val="tx1"/>
          </a:solidFill>
          <a:latin typeface="+mn-lt"/>
          <a:ea typeface="+mn-ea"/>
          <a:cs typeface="+mn-cs"/>
        </a:defRPr>
      </a:lvl1pPr>
      <a:lvl2pPr marL="528020" algn="l" defTabSz="1056041" rtl="0" eaLnBrk="1" latinLnBrk="0" hangingPunct="1">
        <a:defRPr sz="2079" kern="1200">
          <a:solidFill>
            <a:schemeClr val="tx1"/>
          </a:solidFill>
          <a:latin typeface="+mn-lt"/>
          <a:ea typeface="+mn-ea"/>
          <a:cs typeface="+mn-cs"/>
        </a:defRPr>
      </a:lvl2pPr>
      <a:lvl3pPr marL="1056041" algn="l" defTabSz="1056041" rtl="0" eaLnBrk="1" latinLnBrk="0" hangingPunct="1">
        <a:defRPr sz="2079" kern="1200">
          <a:solidFill>
            <a:schemeClr val="tx1"/>
          </a:solidFill>
          <a:latin typeface="+mn-lt"/>
          <a:ea typeface="+mn-ea"/>
          <a:cs typeface="+mn-cs"/>
        </a:defRPr>
      </a:lvl3pPr>
      <a:lvl4pPr marL="1584061" algn="l" defTabSz="1056041" rtl="0" eaLnBrk="1" latinLnBrk="0" hangingPunct="1">
        <a:defRPr sz="2079" kern="1200">
          <a:solidFill>
            <a:schemeClr val="tx1"/>
          </a:solidFill>
          <a:latin typeface="+mn-lt"/>
          <a:ea typeface="+mn-ea"/>
          <a:cs typeface="+mn-cs"/>
        </a:defRPr>
      </a:lvl4pPr>
      <a:lvl5pPr marL="2112081" algn="l" defTabSz="1056041" rtl="0" eaLnBrk="1" latinLnBrk="0" hangingPunct="1">
        <a:defRPr sz="2079" kern="1200">
          <a:solidFill>
            <a:schemeClr val="tx1"/>
          </a:solidFill>
          <a:latin typeface="+mn-lt"/>
          <a:ea typeface="+mn-ea"/>
          <a:cs typeface="+mn-cs"/>
        </a:defRPr>
      </a:lvl5pPr>
      <a:lvl6pPr marL="2640101" algn="l" defTabSz="1056041" rtl="0" eaLnBrk="1" latinLnBrk="0" hangingPunct="1">
        <a:defRPr sz="2079" kern="1200">
          <a:solidFill>
            <a:schemeClr val="tx1"/>
          </a:solidFill>
          <a:latin typeface="+mn-lt"/>
          <a:ea typeface="+mn-ea"/>
          <a:cs typeface="+mn-cs"/>
        </a:defRPr>
      </a:lvl6pPr>
      <a:lvl7pPr marL="3168122" algn="l" defTabSz="1056041" rtl="0" eaLnBrk="1" latinLnBrk="0" hangingPunct="1">
        <a:defRPr sz="2079" kern="1200">
          <a:solidFill>
            <a:schemeClr val="tx1"/>
          </a:solidFill>
          <a:latin typeface="+mn-lt"/>
          <a:ea typeface="+mn-ea"/>
          <a:cs typeface="+mn-cs"/>
        </a:defRPr>
      </a:lvl7pPr>
      <a:lvl8pPr marL="3696142" algn="l" defTabSz="1056041" rtl="0" eaLnBrk="1" latinLnBrk="0" hangingPunct="1">
        <a:defRPr sz="2079" kern="1200">
          <a:solidFill>
            <a:schemeClr val="tx1"/>
          </a:solidFill>
          <a:latin typeface="+mn-lt"/>
          <a:ea typeface="+mn-ea"/>
          <a:cs typeface="+mn-cs"/>
        </a:defRPr>
      </a:lvl8pPr>
      <a:lvl9pPr marL="4224162" algn="l" defTabSz="1056041" rtl="0" eaLnBrk="1" latinLnBrk="0" hangingPunct="1">
        <a:defRPr sz="207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47993" y="950475"/>
            <a:ext cx="10191214" cy="2851428"/>
          </a:xfrm>
          <a:prstGeom prst="rect">
            <a:avLst/>
          </a:prstGeom>
          <a:noFill/>
          <a:ln/>
        </p:spPr>
        <p:txBody>
          <a:bodyPr wrap="square" lIns="0" tIns="0" rIns="0" bIns="0" rtlCol="0" anchor="t"/>
          <a:lstStyle/>
          <a:p>
            <a:pPr algn="ctr" defTabSz="1056041">
              <a:spcAft>
                <a:spcPts val="1155"/>
              </a:spcAft>
            </a:pPr>
            <a:r>
              <a:rPr lang="en-US" sz="2310" dirty="0">
                <a:solidFill>
                  <a:srgbClr val="000000"/>
                </a:solidFill>
                <a:latin typeface="Poppins" pitchFamily="34" charset="0"/>
                <a:ea typeface="Poppins" pitchFamily="34" charset="-122"/>
                <a:cs typeface="Poppins" pitchFamily="34" charset="-120"/>
              </a:rPr>
              <a:t>Bu </a:t>
            </a:r>
            <a:r>
              <a:rPr lang="az-Latn-AZ" sz="2310" b="1" dirty="0">
                <a:solidFill>
                  <a:srgbClr val="238B45"/>
                </a:solidFill>
                <a:latin typeface="Poppins" pitchFamily="34" charset="0"/>
                <a:ea typeface="Poppins" pitchFamily="34" charset="-122"/>
                <a:cs typeface="Poppins" pitchFamily="34" charset="-120"/>
              </a:rPr>
              <a:t>Fatma nənə</a:t>
            </a:r>
            <a:r>
              <a:rPr lang="en-US" sz="2310" b="1" dirty="0" err="1">
                <a:solidFill>
                  <a:srgbClr val="238B45"/>
                </a:solidFill>
                <a:latin typeface="Poppins" pitchFamily="34" charset="0"/>
                <a:ea typeface="Poppins" pitchFamily="34" charset="-122"/>
                <a:cs typeface="Poppins" pitchFamily="34" charset="-120"/>
              </a:rPr>
              <a:t>dir</a:t>
            </a:r>
            <a:r>
              <a:rPr lang="az-Latn-AZ" sz="2310" b="1" dirty="0">
                <a:solidFill>
                  <a:srgbClr val="238B45"/>
                </a:solidFill>
                <a:latin typeface="Poppins" pitchFamily="34" charset="0"/>
                <a:ea typeface="Poppins" pitchFamily="34" charset="-122"/>
                <a:cs typeface="Poppins" pitchFamily="34" charset="-120"/>
              </a:rPr>
              <a:t>.</a:t>
            </a:r>
            <a:endParaRPr lang="en-US" sz="2310" dirty="0">
              <a:solidFill>
                <a:srgbClr val="000000"/>
              </a:solidFill>
              <a:latin typeface="Poppins"/>
            </a:endParaRPr>
          </a:p>
          <a:p>
            <a:pPr algn="ctr" defTabSz="1056041">
              <a:spcAft>
                <a:spcPts val="1155"/>
              </a:spcAft>
            </a:pPr>
            <a:r>
              <a:rPr lang="az-Latn-AZ" sz="2310" dirty="0">
                <a:solidFill>
                  <a:srgbClr val="000000"/>
                </a:solidFill>
                <a:latin typeface="Poppins" pitchFamily="34" charset="0"/>
                <a:ea typeface="Poppins" pitchFamily="34" charset="-122"/>
                <a:cs typeface="Poppins" pitchFamily="34" charset="-120"/>
              </a:rPr>
              <a:t>O, Xırdalanda yaşayır. </a:t>
            </a:r>
            <a:r>
              <a:rPr lang="en-US" sz="2310" dirty="0">
                <a:solidFill>
                  <a:srgbClr val="000000"/>
                </a:solidFill>
                <a:latin typeface="Poppins" pitchFamily="34" charset="0"/>
                <a:ea typeface="Poppins" pitchFamily="34" charset="-122"/>
                <a:cs typeface="Poppins" pitchFamily="34" charset="-120"/>
              </a:rPr>
              <a:t>Fatma </a:t>
            </a:r>
            <a:r>
              <a:rPr lang="en-US" sz="2310" dirty="0" err="1">
                <a:solidFill>
                  <a:srgbClr val="000000"/>
                </a:solidFill>
                <a:latin typeface="Poppins" pitchFamily="34" charset="0"/>
                <a:ea typeface="Poppins" pitchFamily="34" charset="-122"/>
                <a:cs typeface="Poppins" pitchFamily="34" charset="-120"/>
              </a:rPr>
              <a:t>nənə</a:t>
            </a:r>
            <a:r>
              <a:rPr lang="az-Latn-AZ" sz="2310" dirty="0">
                <a:solidFill>
                  <a:srgbClr val="000000"/>
                </a:solidFill>
                <a:latin typeface="Poppins" pitchFamily="34" charset="0"/>
                <a:ea typeface="Poppins" pitchFamily="34" charset="-122"/>
                <a:cs typeface="Poppins" pitchFamily="34" charset="-120"/>
              </a:rPr>
              <a:t> küçədə su borusu</a:t>
            </a:r>
            <a:r>
              <a:rPr lang="en-US" sz="2310" dirty="0">
                <a:solidFill>
                  <a:srgbClr val="000000"/>
                </a:solidFill>
                <a:latin typeface="Poppins" pitchFamily="34" charset="0"/>
                <a:ea typeface="Poppins" pitchFamily="34" charset="-122"/>
                <a:cs typeface="Poppins" pitchFamily="34" charset="-120"/>
              </a:rPr>
              <a:t>nun</a:t>
            </a:r>
            <a:r>
              <a:rPr lang="az-Latn-AZ" sz="2310" dirty="0">
                <a:solidFill>
                  <a:srgbClr val="000000"/>
                </a:solidFill>
                <a:latin typeface="Poppins" pitchFamily="34" charset="0"/>
                <a:ea typeface="Poppins" pitchFamily="34" charset="-122"/>
                <a:cs typeface="Poppins" pitchFamily="34" charset="-120"/>
              </a:rPr>
              <a:t> part</a:t>
            </a:r>
            <a:r>
              <a:rPr lang="en-US" sz="2310" dirty="0" err="1">
                <a:solidFill>
                  <a:srgbClr val="000000"/>
                </a:solidFill>
                <a:latin typeface="Poppins" pitchFamily="34" charset="0"/>
                <a:ea typeface="Poppins" pitchFamily="34" charset="-122"/>
                <a:cs typeface="Poppins" pitchFamily="34" charset="-120"/>
              </a:rPr>
              <a:t>dığını</a:t>
            </a:r>
            <a:r>
              <a:rPr lang="az-Latn-AZ" sz="2310" dirty="0">
                <a:solidFill>
                  <a:srgbClr val="000000"/>
                </a:solidFill>
                <a:latin typeface="Poppins" pitchFamily="34" charset="0"/>
                <a:ea typeface="Poppins" pitchFamily="34" charset="-122"/>
                <a:cs typeface="Poppins" pitchFamily="34" charset="-120"/>
              </a:rPr>
              <a:t> </a:t>
            </a:r>
            <a:r>
              <a:rPr lang="en-US" sz="2310" dirty="0" err="1">
                <a:solidFill>
                  <a:srgbClr val="000000"/>
                </a:solidFill>
                <a:latin typeface="Poppins" pitchFamily="34" charset="0"/>
                <a:ea typeface="Poppins" pitchFamily="34" charset="-122"/>
                <a:cs typeface="Poppins" pitchFamily="34" charset="-120"/>
              </a:rPr>
              <a:t>görür</a:t>
            </a:r>
            <a:r>
              <a:rPr lang="en-US" sz="2310" dirty="0">
                <a:solidFill>
                  <a:srgbClr val="000000"/>
                </a:solidFill>
                <a:latin typeface="Poppins" pitchFamily="34" charset="0"/>
                <a:ea typeface="Poppins" pitchFamily="34" charset="-122"/>
                <a:cs typeface="Poppins" pitchFamily="34" charset="-120"/>
              </a:rPr>
              <a:t>. </a:t>
            </a:r>
          </a:p>
          <a:p>
            <a:pPr algn="ctr" defTabSz="1056041">
              <a:spcAft>
                <a:spcPts val="1155"/>
              </a:spcAft>
            </a:pPr>
            <a:r>
              <a:rPr lang="az-Latn-AZ" sz="2310" dirty="0">
                <a:solidFill>
                  <a:srgbClr val="000000"/>
                </a:solidFill>
                <a:latin typeface="Poppins" pitchFamily="34" charset="0"/>
                <a:ea typeface="Poppins" pitchFamily="34" charset="-122"/>
                <a:cs typeface="Poppins" pitchFamily="34" charset="-120"/>
              </a:rPr>
              <a:t>Lakin o</a:t>
            </a:r>
            <a:r>
              <a:rPr lang="en-US" sz="2310" dirty="0">
                <a:solidFill>
                  <a:srgbClr val="000000"/>
                </a:solidFill>
                <a:latin typeface="Poppins" pitchFamily="34" charset="0"/>
                <a:ea typeface="Poppins" pitchFamily="34" charset="-122"/>
                <a:cs typeface="Poppins" pitchFamily="34" charset="-120"/>
              </a:rPr>
              <a:t> </a:t>
            </a:r>
            <a:r>
              <a:rPr lang="en-US" sz="2310" dirty="0" err="1">
                <a:solidFill>
                  <a:srgbClr val="000000"/>
                </a:solidFill>
                <a:latin typeface="Poppins" pitchFamily="34" charset="0"/>
                <a:ea typeface="Poppins" pitchFamily="34" charset="-122"/>
                <a:cs typeface="Poppins" pitchFamily="34" charset="-120"/>
              </a:rPr>
              <a:t>nə</a:t>
            </a:r>
            <a:r>
              <a:rPr lang="en-US" sz="2310" dirty="0">
                <a:solidFill>
                  <a:srgbClr val="000000"/>
                </a:solidFill>
                <a:latin typeface="Poppins" pitchFamily="34" charset="0"/>
                <a:ea typeface="Poppins" pitchFamily="34" charset="-122"/>
                <a:cs typeface="Poppins" pitchFamily="34" charset="-120"/>
              </a:rPr>
              <a:t> </a:t>
            </a:r>
            <a:r>
              <a:rPr lang="en-US" sz="2310" dirty="0" err="1">
                <a:solidFill>
                  <a:srgbClr val="000000"/>
                </a:solidFill>
                <a:latin typeface="Poppins" pitchFamily="34" charset="0"/>
                <a:ea typeface="Poppins" pitchFamily="34" charset="-122"/>
                <a:cs typeface="Poppins" pitchFamily="34" charset="-120"/>
              </a:rPr>
              <a:t>edəcəyini</a:t>
            </a:r>
            <a:r>
              <a:rPr lang="en-US" sz="2310" dirty="0">
                <a:solidFill>
                  <a:srgbClr val="000000"/>
                </a:solidFill>
                <a:latin typeface="Poppins" pitchFamily="34" charset="0"/>
                <a:ea typeface="Poppins" pitchFamily="34" charset="-122"/>
                <a:cs typeface="Poppins" pitchFamily="34" charset="-120"/>
              </a:rPr>
              <a:t>, </a:t>
            </a:r>
            <a:r>
              <a:rPr lang="en-US" sz="2310" dirty="0" err="1">
                <a:solidFill>
                  <a:srgbClr val="000000"/>
                </a:solidFill>
                <a:latin typeface="Poppins" pitchFamily="34" charset="0"/>
                <a:ea typeface="Poppins" pitchFamily="34" charset="-122"/>
                <a:cs typeface="Poppins" pitchFamily="34" charset="-120"/>
              </a:rPr>
              <a:t>kimə</a:t>
            </a:r>
            <a:r>
              <a:rPr lang="en-US" sz="2310" dirty="0">
                <a:solidFill>
                  <a:srgbClr val="000000"/>
                </a:solidFill>
                <a:latin typeface="Poppins" pitchFamily="34" charset="0"/>
                <a:ea typeface="Poppins" pitchFamily="34" charset="-122"/>
                <a:cs typeface="Poppins" pitchFamily="34" charset="-120"/>
              </a:rPr>
              <a:t> </a:t>
            </a:r>
            <a:r>
              <a:rPr lang="en-US" sz="2310" dirty="0" err="1">
                <a:solidFill>
                  <a:srgbClr val="000000"/>
                </a:solidFill>
                <a:latin typeface="Poppins" pitchFamily="34" charset="0"/>
                <a:ea typeface="Poppins" pitchFamily="34" charset="-122"/>
                <a:cs typeface="Poppins" pitchFamily="34" charset="-120"/>
              </a:rPr>
              <a:t>müraciət</a:t>
            </a:r>
            <a:r>
              <a:rPr lang="en-US" sz="2310" dirty="0">
                <a:solidFill>
                  <a:srgbClr val="000000"/>
                </a:solidFill>
                <a:latin typeface="Poppins" pitchFamily="34" charset="0"/>
                <a:ea typeface="Poppins" pitchFamily="34" charset="-122"/>
                <a:cs typeface="Poppins" pitchFamily="34" charset="-120"/>
              </a:rPr>
              <a:t> </a:t>
            </a:r>
            <a:r>
              <a:rPr lang="en-US" sz="2310" dirty="0" err="1">
                <a:solidFill>
                  <a:srgbClr val="000000"/>
                </a:solidFill>
                <a:latin typeface="Poppins" pitchFamily="34" charset="0"/>
                <a:ea typeface="Poppins" pitchFamily="34" charset="-122"/>
                <a:cs typeface="Poppins" pitchFamily="34" charset="-120"/>
              </a:rPr>
              <a:t>edəcəyini</a:t>
            </a:r>
            <a:r>
              <a:rPr lang="en-US" sz="2310" dirty="0">
                <a:solidFill>
                  <a:srgbClr val="000000"/>
                </a:solidFill>
                <a:latin typeface="Poppins" pitchFamily="34" charset="0"/>
                <a:ea typeface="Poppins" pitchFamily="34" charset="-122"/>
                <a:cs typeface="Poppins" pitchFamily="34" charset="-120"/>
              </a:rPr>
              <a:t> </a:t>
            </a:r>
            <a:r>
              <a:rPr lang="en-US" sz="2310" dirty="0" err="1">
                <a:solidFill>
                  <a:srgbClr val="000000"/>
                </a:solidFill>
                <a:latin typeface="Poppins" pitchFamily="34" charset="0"/>
                <a:ea typeface="Poppins" pitchFamily="34" charset="-122"/>
                <a:cs typeface="Poppins" pitchFamily="34" charset="-120"/>
              </a:rPr>
              <a:t>bilmir</a:t>
            </a:r>
            <a:r>
              <a:rPr lang="en-US" sz="2310" dirty="0">
                <a:solidFill>
                  <a:srgbClr val="000000"/>
                </a:solidFill>
                <a:latin typeface="Poppins" pitchFamily="34" charset="0"/>
                <a:ea typeface="Poppins" pitchFamily="34" charset="-122"/>
                <a:cs typeface="Poppins" pitchFamily="34" charset="-120"/>
              </a:rPr>
              <a:t>.</a:t>
            </a:r>
            <a:endParaRPr lang="en-US" sz="2310" dirty="0">
              <a:solidFill>
                <a:srgbClr val="000000"/>
              </a:solidFill>
              <a:latin typeface="Poppins"/>
            </a:endParaRPr>
          </a:p>
        </p:txBody>
      </p:sp>
      <p:pic>
        <p:nvPicPr>
          <p:cNvPr id="3" name="Image 0" descr="decoration"/>
          <p:cNvPicPr>
            <a:picLocks noChangeAspect="1"/>
          </p:cNvPicPr>
          <p:nvPr/>
        </p:nvPicPr>
        <p:blipFill>
          <a:blip r:embed="rId3"/>
          <a:stretch>
            <a:fillRect/>
          </a:stretch>
        </p:blipFill>
        <p:spPr>
          <a:xfrm>
            <a:off x="372755" y="4963596"/>
            <a:ext cx="760381" cy="844868"/>
          </a:xfrm>
          <a:prstGeom prst="rect">
            <a:avLst/>
          </a:prstGeom>
        </p:spPr>
      </p:pic>
      <p:pic>
        <p:nvPicPr>
          <p:cNvPr id="4" name="Image 1" descr="decoration"/>
          <p:cNvPicPr>
            <a:picLocks noChangeAspect="1"/>
          </p:cNvPicPr>
          <p:nvPr/>
        </p:nvPicPr>
        <p:blipFill>
          <a:blip r:embed="rId4"/>
          <a:stretch>
            <a:fillRect/>
          </a:stretch>
        </p:blipFill>
        <p:spPr>
          <a:xfrm>
            <a:off x="4174659" y="4963596"/>
            <a:ext cx="760381" cy="844868"/>
          </a:xfrm>
          <a:prstGeom prst="rect">
            <a:avLst/>
          </a:prstGeom>
        </p:spPr>
      </p:pic>
      <p:pic>
        <p:nvPicPr>
          <p:cNvPr id="5" name="Burst pipe" descr="Water pipe burst in the middle, water flowing down into a puddle on the ground"/>
          <p:cNvPicPr>
            <a:picLocks noChangeAspect="1"/>
          </p:cNvPicPr>
          <p:nvPr/>
        </p:nvPicPr>
        <p:blipFill>
          <a:blip r:embed="rId5"/>
          <a:stretch>
            <a:fillRect/>
          </a:stretch>
        </p:blipFill>
        <p:spPr>
          <a:xfrm>
            <a:off x="5653177" y="4646771"/>
            <a:ext cx="5702856" cy="3801904"/>
          </a:xfrm>
          <a:prstGeom prst="rect">
            <a:avLst/>
          </a:prstGeom>
        </p:spPr>
      </p:pic>
      <p:pic>
        <p:nvPicPr>
          <p:cNvPr id="6" name="Fatma nənə" descr="Fatma nənə looking worried"/>
          <p:cNvPicPr>
            <a:picLocks noChangeAspect="1"/>
          </p:cNvPicPr>
          <p:nvPr/>
        </p:nvPicPr>
        <p:blipFill>
          <a:blip r:embed="rId6"/>
          <a:stretch>
            <a:fillRect/>
          </a:stretch>
        </p:blipFill>
        <p:spPr>
          <a:xfrm>
            <a:off x="1217622" y="3801903"/>
            <a:ext cx="2935915" cy="46467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40080" y="457200"/>
            <a:ext cx="6949440" cy="1554480"/>
          </a:xfrm>
          <a:prstGeom prst="rect">
            <a:avLst/>
          </a:prstGeom>
          <a:noFill/>
          <a:ln/>
        </p:spPr>
        <p:txBody>
          <a:bodyPr wrap="square" lIns="0" tIns="0" rIns="0" bIns="0" rtlCol="0" anchor="ctr"/>
          <a:lstStyle/>
          <a:p>
            <a:pPr marL="0" indent="0">
              <a:buNone/>
            </a:pPr>
            <a:r>
              <a:rPr lang="az-Latn-AZ" sz="3600" b="1" dirty="0">
                <a:solidFill>
                  <a:srgbClr val="238B3F"/>
                </a:solidFill>
                <a:latin typeface="Poppins" pitchFamily="34" charset="0"/>
                <a:ea typeface="Poppins" pitchFamily="34" charset="-122"/>
                <a:cs typeface="Poppins" pitchFamily="34" charset="-120"/>
              </a:rPr>
              <a:t>Fatma </a:t>
            </a:r>
            <a:r>
              <a:rPr lang="az-Latn-AZ" sz="3600" b="1" dirty="0" err="1">
                <a:solidFill>
                  <a:srgbClr val="238B3F"/>
                </a:solidFill>
                <a:latin typeface="Poppins" pitchFamily="34" charset="0"/>
                <a:ea typeface="Poppins" pitchFamily="34" charset="-122"/>
                <a:cs typeface="Poppins" pitchFamily="34" charset="-120"/>
              </a:rPr>
              <a:t>nənə</a:t>
            </a:r>
            <a:r>
              <a:rPr lang="az-Latn-AZ" sz="3600" b="1" dirty="0">
                <a:solidFill>
                  <a:srgbClr val="111111"/>
                </a:solidFill>
                <a:latin typeface="Poppins" pitchFamily="34" charset="0"/>
                <a:ea typeface="Poppins" pitchFamily="34" charset="-122"/>
                <a:cs typeface="Poppins" pitchFamily="34" charset="-120"/>
              </a:rPr>
              <a:t> hara müraciət etsin?</a:t>
            </a:r>
            <a:endParaRPr lang="en-US" sz="3600" dirty="0"/>
          </a:p>
        </p:txBody>
      </p:sp>
      <p:sp>
        <p:nvSpPr>
          <p:cNvPr id="3" name="Text 1"/>
          <p:cNvSpPr txBox="1"/>
          <p:nvPr/>
        </p:nvSpPr>
        <p:spPr>
          <a:xfrm>
            <a:off x="640080" y="2240280"/>
            <a:ext cx="6583680" cy="822960"/>
          </a:xfrm>
          <a:prstGeom prst="rect">
            <a:avLst/>
          </a:prstGeom>
          <a:noFill/>
          <a:ln/>
        </p:spPr>
        <p:txBody>
          <a:bodyPr wrap="square" lIns="0" tIns="0" rIns="0" bIns="0" rtlCol="0" anchor="t"/>
          <a:lstStyle/>
          <a:p>
            <a:pPr marL="0" indent="0">
              <a:buNone/>
            </a:pPr>
            <a:r>
              <a:rPr lang="az-Latn-AZ" sz="2000" dirty="0">
                <a:solidFill>
                  <a:srgbClr val="555555"/>
                </a:solidFill>
                <a:latin typeface="Poppins" pitchFamily="34" charset="0"/>
                <a:ea typeface="Poppins" pitchFamily="34" charset="-122"/>
                <a:cs typeface="Poppins" pitchFamily="34" charset="-120"/>
              </a:rPr>
              <a:t>O, küçədə </a:t>
            </a:r>
            <a:r>
              <a:rPr lang="en-US" sz="2000" dirty="0">
                <a:solidFill>
                  <a:srgbClr val="555555"/>
                </a:solidFill>
                <a:latin typeface="Poppins" pitchFamily="34" charset="0"/>
                <a:ea typeface="Poppins" pitchFamily="34" charset="-122"/>
                <a:cs typeface="Poppins" pitchFamily="34" charset="-120"/>
              </a:rPr>
              <a:t>problem</a:t>
            </a:r>
            <a:r>
              <a:rPr lang="az-Latn-AZ" sz="2000" dirty="0">
                <a:solidFill>
                  <a:srgbClr val="555555"/>
                </a:solidFill>
                <a:latin typeface="Poppins" pitchFamily="34" charset="0"/>
                <a:ea typeface="Poppins" pitchFamily="34" charset="-122"/>
                <a:cs typeface="Poppins" pitchFamily="34" charset="-120"/>
              </a:rPr>
              <a:t> görür, lakin bunu hara bildirəcəyini bilmir.</a:t>
            </a:r>
            <a:endParaRPr lang="en-US" sz="2000" dirty="0"/>
          </a:p>
        </p:txBody>
      </p:sp>
      <p:sp>
        <p:nvSpPr>
          <p:cNvPr id="4" name="Icon circle"/>
          <p:cNvSpPr/>
          <p:nvPr/>
        </p:nvSpPr>
        <p:spPr>
          <a:xfrm>
            <a:off x="640080" y="329184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5" name="Icon" descr="preencoded.png"/>
          <p:cNvPicPr>
            <a:picLocks noChangeAspect="1"/>
          </p:cNvPicPr>
          <p:nvPr/>
        </p:nvPicPr>
        <p:blipFill>
          <a:blip r:embed="rId3"/>
          <a:stretch>
            <a:fillRect/>
          </a:stretch>
        </p:blipFill>
        <p:spPr>
          <a:xfrm>
            <a:off x="886968" y="3538728"/>
            <a:ext cx="420624" cy="420624"/>
          </a:xfrm>
          <a:prstGeom prst="rect">
            <a:avLst/>
          </a:prstGeom>
        </p:spPr>
      </p:pic>
      <p:sp>
        <p:nvSpPr>
          <p:cNvPr id="6" name="Text 3"/>
          <p:cNvSpPr txBox="1"/>
          <p:nvPr/>
        </p:nvSpPr>
        <p:spPr>
          <a:xfrm>
            <a:off x="640080" y="4389120"/>
            <a:ext cx="3108960" cy="1371600"/>
          </a:xfrm>
          <a:prstGeom prst="rect">
            <a:avLst/>
          </a:prstGeom>
          <a:noFill/>
          <a:ln/>
        </p:spPr>
        <p:txBody>
          <a:bodyPr wrap="square" lIns="0" tIns="0" rIns="0" bIns="0" rtlCol="0" anchor="t"/>
          <a:lstStyle/>
          <a:p>
            <a:pPr marL="0" indent="0">
              <a:buNone/>
            </a:pPr>
            <a:r>
              <a:rPr lang="az-Latn-AZ" sz="2000" dirty="0">
                <a:solidFill>
                  <a:srgbClr val="111111"/>
                </a:solidFill>
                <a:latin typeface="Poppins" pitchFamily="34" charset="0"/>
                <a:ea typeface="Poppins" pitchFamily="34" charset="-122"/>
                <a:cs typeface="Poppins" pitchFamily="34" charset="-120"/>
              </a:rPr>
              <a:t>Hara müraciət edəcəyini bilmir</a:t>
            </a:r>
            <a:endParaRPr lang="en-US" sz="2000" dirty="0"/>
          </a:p>
        </p:txBody>
      </p:sp>
      <p:sp>
        <p:nvSpPr>
          <p:cNvPr id="7" name="Icon circle"/>
          <p:cNvSpPr/>
          <p:nvPr/>
        </p:nvSpPr>
        <p:spPr>
          <a:xfrm>
            <a:off x="4114800" y="329184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8" name="Icon" descr="preencoded.png"/>
          <p:cNvPicPr>
            <a:picLocks noChangeAspect="1"/>
          </p:cNvPicPr>
          <p:nvPr/>
        </p:nvPicPr>
        <p:blipFill>
          <a:blip r:embed="rId4"/>
          <a:stretch>
            <a:fillRect/>
          </a:stretch>
        </p:blipFill>
        <p:spPr>
          <a:xfrm>
            <a:off x="4361688" y="3538728"/>
            <a:ext cx="420624" cy="420624"/>
          </a:xfrm>
          <a:prstGeom prst="rect">
            <a:avLst/>
          </a:prstGeom>
        </p:spPr>
      </p:pic>
      <p:sp>
        <p:nvSpPr>
          <p:cNvPr id="9" name="Text 5"/>
          <p:cNvSpPr txBox="1"/>
          <p:nvPr/>
        </p:nvSpPr>
        <p:spPr>
          <a:xfrm>
            <a:off x="4114800" y="4389120"/>
            <a:ext cx="3108960" cy="1371600"/>
          </a:xfrm>
          <a:prstGeom prst="rect">
            <a:avLst/>
          </a:prstGeom>
          <a:noFill/>
          <a:ln/>
        </p:spPr>
        <p:txBody>
          <a:bodyPr wrap="square" lIns="0" tIns="0" rIns="0" bIns="0" rtlCol="0" anchor="t"/>
          <a:lstStyle/>
          <a:p>
            <a:pPr marL="0" indent="0">
              <a:buNone/>
            </a:pPr>
            <a:r>
              <a:rPr lang="az-Latn-AZ" sz="2000" dirty="0">
                <a:solidFill>
                  <a:srgbClr val="111111"/>
                </a:solidFill>
                <a:latin typeface="Poppins" pitchFamily="34" charset="0"/>
                <a:ea typeface="Poppins" pitchFamily="34" charset="-122"/>
                <a:cs typeface="Poppins" pitchFamily="34" charset="-120"/>
              </a:rPr>
              <a:t>Çağrı mərkəzləri çox yavaşdır</a:t>
            </a:r>
            <a:endParaRPr lang="en-US" sz="2000" dirty="0"/>
          </a:p>
        </p:txBody>
      </p:sp>
      <p:sp>
        <p:nvSpPr>
          <p:cNvPr id="10" name="Icon circle"/>
          <p:cNvSpPr/>
          <p:nvPr/>
        </p:nvSpPr>
        <p:spPr>
          <a:xfrm>
            <a:off x="640080" y="576072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1" name="Icon" descr="preencoded.png"/>
          <p:cNvPicPr>
            <a:picLocks noChangeAspect="1"/>
          </p:cNvPicPr>
          <p:nvPr/>
        </p:nvPicPr>
        <p:blipFill>
          <a:blip r:embed="rId5"/>
          <a:stretch>
            <a:fillRect/>
          </a:stretch>
        </p:blipFill>
        <p:spPr>
          <a:xfrm>
            <a:off x="886968" y="6007608"/>
            <a:ext cx="420624" cy="420624"/>
          </a:xfrm>
          <a:prstGeom prst="rect">
            <a:avLst/>
          </a:prstGeom>
        </p:spPr>
      </p:pic>
      <p:sp>
        <p:nvSpPr>
          <p:cNvPr id="12" name="Text 7"/>
          <p:cNvSpPr txBox="1"/>
          <p:nvPr/>
        </p:nvSpPr>
        <p:spPr>
          <a:xfrm>
            <a:off x="640080" y="6858000"/>
            <a:ext cx="3108960" cy="1371600"/>
          </a:xfrm>
          <a:prstGeom prst="rect">
            <a:avLst/>
          </a:prstGeom>
          <a:noFill/>
          <a:ln/>
        </p:spPr>
        <p:txBody>
          <a:bodyPr wrap="square" lIns="0" tIns="0" rIns="0" bIns="0" rtlCol="0" anchor="t"/>
          <a:lstStyle/>
          <a:p>
            <a:pPr marL="0" indent="0">
              <a:buNone/>
            </a:pPr>
            <a:r>
              <a:rPr lang="az-Latn-AZ" sz="2000" dirty="0">
                <a:solidFill>
                  <a:srgbClr val="111111"/>
                </a:solidFill>
                <a:latin typeface="Poppins" pitchFamily="34" charset="0"/>
                <a:ea typeface="Poppins" pitchFamily="34" charset="-122"/>
                <a:cs typeface="Poppins" pitchFamily="34" charset="-120"/>
              </a:rPr>
              <a:t>Kağız ərizələr itib-batır</a:t>
            </a:r>
            <a:endParaRPr lang="en-US" sz="2000" dirty="0"/>
          </a:p>
        </p:txBody>
      </p:sp>
      <p:sp>
        <p:nvSpPr>
          <p:cNvPr id="13" name="Icon circle"/>
          <p:cNvSpPr/>
          <p:nvPr/>
        </p:nvSpPr>
        <p:spPr>
          <a:xfrm>
            <a:off x="4114800" y="576072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4" name="Icon" descr="preencoded.png"/>
          <p:cNvPicPr>
            <a:picLocks noChangeAspect="1"/>
          </p:cNvPicPr>
          <p:nvPr/>
        </p:nvPicPr>
        <p:blipFill>
          <a:blip r:embed="rId6"/>
          <a:stretch>
            <a:fillRect/>
          </a:stretch>
        </p:blipFill>
        <p:spPr>
          <a:xfrm>
            <a:off x="4361688" y="6007608"/>
            <a:ext cx="420624" cy="420624"/>
          </a:xfrm>
          <a:prstGeom prst="rect">
            <a:avLst/>
          </a:prstGeom>
        </p:spPr>
      </p:pic>
      <p:sp>
        <p:nvSpPr>
          <p:cNvPr id="15" name="Text 9"/>
          <p:cNvSpPr txBox="1"/>
          <p:nvPr/>
        </p:nvSpPr>
        <p:spPr>
          <a:xfrm>
            <a:off x="4114800" y="6858000"/>
            <a:ext cx="3108960" cy="1371600"/>
          </a:xfrm>
          <a:prstGeom prst="rect">
            <a:avLst/>
          </a:prstGeom>
          <a:noFill/>
          <a:ln/>
        </p:spPr>
        <p:txBody>
          <a:bodyPr wrap="square" lIns="0" tIns="0" rIns="0" bIns="0" rtlCol="0" anchor="t"/>
          <a:lstStyle/>
          <a:p>
            <a:pPr marL="0" indent="0">
              <a:buNone/>
            </a:pPr>
            <a:r>
              <a:rPr lang="az-Latn-AZ" sz="2000" dirty="0">
                <a:solidFill>
                  <a:srgbClr val="111111"/>
                </a:solidFill>
                <a:latin typeface="Poppins" pitchFamily="34" charset="0"/>
                <a:ea typeface="Poppins" pitchFamily="34" charset="-122"/>
                <a:cs typeface="Poppins" pitchFamily="34" charset="-120"/>
              </a:rPr>
              <a:t>Vətəndaşların </a:t>
            </a:r>
            <a:r>
              <a:rPr lang="en-US" sz="2000" dirty="0" err="1">
                <a:solidFill>
                  <a:srgbClr val="111111"/>
                </a:solidFill>
                <a:latin typeface="Poppins" pitchFamily="34" charset="0"/>
                <a:ea typeface="Poppins" pitchFamily="34" charset="-122"/>
                <a:cs typeface="Poppins" pitchFamily="34" charset="-120"/>
              </a:rPr>
              <a:t>quruma</a:t>
            </a:r>
            <a:r>
              <a:rPr lang="az-Latn-AZ" sz="2000" dirty="0">
                <a:solidFill>
                  <a:srgbClr val="111111"/>
                </a:solidFill>
                <a:latin typeface="Poppins" pitchFamily="34" charset="0"/>
                <a:ea typeface="Poppins" pitchFamily="34" charset="-122"/>
                <a:cs typeface="Poppins" pitchFamily="34" charset="-120"/>
              </a:rPr>
              <a:t> inamı azalır</a:t>
            </a:r>
            <a:endParaRPr lang="en-US" sz="2000" dirty="0"/>
          </a:p>
        </p:txBody>
      </p:sp>
      <p:pic>
        <p:nvPicPr>
          <p:cNvPr id="16" name="Fatma nənə" descr="/home/claude/build/fatma_q.png"/>
          <p:cNvPicPr>
            <a:picLocks noChangeAspect="1"/>
          </p:cNvPicPr>
          <p:nvPr/>
        </p:nvPicPr>
        <p:blipFill>
          <a:blip r:embed="rId7"/>
          <a:stretch>
            <a:fillRect/>
          </a:stretch>
        </p:blipFill>
        <p:spPr>
          <a:xfrm>
            <a:off x="7589520" y="1743509"/>
            <a:ext cx="4023360" cy="58398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arkle"/>
          <p:cNvSpPr/>
          <p:nvPr/>
        </p:nvSpPr>
        <p:spPr>
          <a:xfrm rot="18300000">
            <a:off x="10881360" y="640080"/>
            <a:ext cx="292608" cy="384048"/>
          </a:xfrm>
          <a:prstGeom prst="triangle">
            <a:avLst/>
          </a:prstGeom>
          <a:solidFill>
            <a:srgbClr val="238B3F"/>
          </a:solidFill>
          <a:ln w="12700">
            <a:solidFill>
              <a:srgbClr val="238B3F"/>
            </a:solidFill>
            <a:prstDash val="solid"/>
          </a:ln>
        </p:spPr>
        <p:txBody>
          <a:bodyPr/>
          <a:lstStyle/>
          <a:p>
            <a:endParaRPr lang="tr-TR"/>
          </a:p>
        </p:txBody>
      </p:sp>
      <p:sp>
        <p:nvSpPr>
          <p:cNvPr id="3" name="Sparkle"/>
          <p:cNvSpPr/>
          <p:nvPr/>
        </p:nvSpPr>
        <p:spPr>
          <a:xfrm rot="14100000">
            <a:off x="10972800" y="1097280"/>
            <a:ext cx="292608" cy="384048"/>
          </a:xfrm>
          <a:prstGeom prst="triangle">
            <a:avLst/>
          </a:prstGeom>
          <a:solidFill>
            <a:srgbClr val="238B3F"/>
          </a:solidFill>
          <a:ln w="12700">
            <a:solidFill>
              <a:srgbClr val="238B3F"/>
            </a:solidFill>
            <a:prstDash val="solid"/>
          </a:ln>
        </p:spPr>
        <p:txBody>
          <a:bodyPr/>
          <a:lstStyle/>
          <a:p>
            <a:endParaRPr lang="tr-TR"/>
          </a:p>
        </p:txBody>
      </p:sp>
      <p:pic>
        <p:nvPicPr>
          <p:cNvPr id="4" name="SmartLine logo" descr="/home/claude/build/logo.png"/>
          <p:cNvPicPr>
            <a:picLocks noChangeAspect="1"/>
          </p:cNvPicPr>
          <p:nvPr/>
        </p:nvPicPr>
        <p:blipFill>
          <a:blip r:embed="rId3"/>
          <a:stretch>
            <a:fillRect/>
          </a:stretch>
        </p:blipFill>
        <p:spPr>
          <a:xfrm>
            <a:off x="640080" y="764332"/>
            <a:ext cx="5120640" cy="848776"/>
          </a:xfrm>
          <a:prstGeom prst="rect">
            <a:avLst/>
          </a:prstGeom>
        </p:spPr>
      </p:pic>
      <p:sp>
        <p:nvSpPr>
          <p:cNvPr id="5" name="Text 2"/>
          <p:cNvSpPr txBox="1"/>
          <p:nvPr/>
        </p:nvSpPr>
        <p:spPr>
          <a:xfrm>
            <a:off x="640080" y="2286000"/>
            <a:ext cx="6400800" cy="914400"/>
          </a:xfrm>
          <a:prstGeom prst="rect">
            <a:avLst/>
          </a:prstGeom>
          <a:noFill/>
          <a:ln/>
        </p:spPr>
        <p:txBody>
          <a:bodyPr wrap="square" lIns="0" tIns="0" rIns="0" bIns="0" rtlCol="0" anchor="ctr"/>
          <a:lstStyle/>
          <a:p>
            <a:pPr marL="0" indent="0">
              <a:buNone/>
            </a:pPr>
            <a:r>
              <a:rPr lang="az-Latn-AZ" sz="4400" b="1" dirty="0">
                <a:solidFill>
                  <a:srgbClr val="238B3F"/>
                </a:solidFill>
                <a:latin typeface="Poppins" pitchFamily="34" charset="0"/>
                <a:ea typeface="Poppins" pitchFamily="34" charset="-122"/>
                <a:cs typeface="Poppins" pitchFamily="34" charset="-120"/>
              </a:rPr>
              <a:t>SmartLine</a:t>
            </a:r>
            <a:r>
              <a:rPr lang="az-Latn-AZ" sz="4400" b="1" dirty="0">
                <a:solidFill>
                  <a:srgbClr val="111111"/>
                </a:solidFill>
                <a:latin typeface="Poppins" pitchFamily="34" charset="0"/>
                <a:ea typeface="Poppins" pitchFamily="34" charset="-122"/>
                <a:cs typeface="Poppins" pitchFamily="34" charset="-120"/>
              </a:rPr>
              <a:t> nədir?</a:t>
            </a:r>
            <a:endParaRPr lang="en-US" sz="4400" dirty="0"/>
          </a:p>
        </p:txBody>
      </p:sp>
      <p:sp>
        <p:nvSpPr>
          <p:cNvPr id="6" name="Text 3"/>
          <p:cNvSpPr txBox="1"/>
          <p:nvPr/>
        </p:nvSpPr>
        <p:spPr>
          <a:xfrm>
            <a:off x="640080" y="3429000"/>
            <a:ext cx="6035040" cy="1554480"/>
          </a:xfrm>
          <a:prstGeom prst="rect">
            <a:avLst/>
          </a:prstGeom>
          <a:noFill/>
          <a:ln/>
        </p:spPr>
        <p:txBody>
          <a:bodyPr wrap="square" lIns="0" tIns="0" rIns="0" bIns="0" rtlCol="0" anchor="t"/>
          <a:lstStyle/>
          <a:p>
            <a:pPr marL="0" indent="0">
              <a:buNone/>
            </a:pPr>
            <a:r>
              <a:rPr lang="az-Latn-AZ" sz="2200" dirty="0">
                <a:solidFill>
                  <a:srgbClr val="555555"/>
                </a:solidFill>
                <a:latin typeface="Poppins" pitchFamily="34" charset="0"/>
                <a:ea typeface="Poppins" pitchFamily="34" charset="-122"/>
                <a:cs typeface="Poppins" pitchFamily="34" charset="-120"/>
              </a:rPr>
              <a:t>Vətəndaşların şəhər problemlərini (zibil, su, işıqlandırma və s.) asanlıqla bildirə bilməsi üçün yaradılmış mobil tətbiq.</a:t>
            </a:r>
            <a:endParaRPr lang="en-US" sz="2200" dirty="0"/>
          </a:p>
        </p:txBody>
      </p:sp>
      <p:sp>
        <p:nvSpPr>
          <p:cNvPr id="7" name="Icon circle"/>
          <p:cNvSpPr/>
          <p:nvPr/>
        </p:nvSpPr>
        <p:spPr>
          <a:xfrm>
            <a:off x="640080" y="539496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8" name="Icon" descr="preencoded.png"/>
          <p:cNvPicPr>
            <a:picLocks noChangeAspect="1"/>
          </p:cNvPicPr>
          <p:nvPr/>
        </p:nvPicPr>
        <p:blipFill>
          <a:blip r:embed="rId4"/>
          <a:stretch>
            <a:fillRect/>
          </a:stretch>
        </p:blipFill>
        <p:spPr>
          <a:xfrm>
            <a:off x="886968" y="5641848"/>
            <a:ext cx="420624" cy="420624"/>
          </a:xfrm>
          <a:prstGeom prst="rect">
            <a:avLst/>
          </a:prstGeom>
        </p:spPr>
      </p:pic>
      <p:sp>
        <p:nvSpPr>
          <p:cNvPr id="9" name="Text 5"/>
          <p:cNvSpPr txBox="1"/>
          <p:nvPr/>
        </p:nvSpPr>
        <p:spPr>
          <a:xfrm>
            <a:off x="640080" y="6492240"/>
            <a:ext cx="1920240" cy="1097280"/>
          </a:xfrm>
          <a:prstGeom prst="rect">
            <a:avLst/>
          </a:prstGeom>
          <a:noFill/>
          <a:ln/>
        </p:spPr>
        <p:txBody>
          <a:bodyPr wrap="square" lIns="0" tIns="0" rIns="0" bIns="0" rtlCol="0" anchor="t"/>
          <a:lstStyle/>
          <a:p>
            <a:pPr marL="0" indent="0">
              <a:buNone/>
            </a:pPr>
            <a:r>
              <a:rPr lang="az-Latn-AZ" sz="1700" b="1" dirty="0">
                <a:solidFill>
                  <a:srgbClr val="111111"/>
                </a:solidFill>
                <a:latin typeface="Poppins" pitchFamily="34" charset="0"/>
                <a:ea typeface="Poppins" pitchFamily="34" charset="-122"/>
                <a:cs typeface="Poppins" pitchFamily="34" charset="-120"/>
              </a:rPr>
              <a:t>Süni intellekt (Sİ) ilə işləyir</a:t>
            </a:r>
            <a:endParaRPr lang="en-US" sz="1700" dirty="0"/>
          </a:p>
        </p:txBody>
      </p:sp>
      <p:sp>
        <p:nvSpPr>
          <p:cNvPr id="10" name="Icon circle"/>
          <p:cNvSpPr/>
          <p:nvPr/>
        </p:nvSpPr>
        <p:spPr>
          <a:xfrm>
            <a:off x="2788920" y="539496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1" name="Icon" descr="preencoded.png"/>
          <p:cNvPicPr>
            <a:picLocks noChangeAspect="1"/>
          </p:cNvPicPr>
          <p:nvPr/>
        </p:nvPicPr>
        <p:blipFill>
          <a:blip r:embed="rId5"/>
          <a:stretch>
            <a:fillRect/>
          </a:stretch>
        </p:blipFill>
        <p:spPr>
          <a:xfrm>
            <a:off x="3035808" y="5641848"/>
            <a:ext cx="420624" cy="420624"/>
          </a:xfrm>
          <a:prstGeom prst="rect">
            <a:avLst/>
          </a:prstGeom>
        </p:spPr>
      </p:pic>
      <p:sp>
        <p:nvSpPr>
          <p:cNvPr id="12" name="Text 7"/>
          <p:cNvSpPr txBox="1"/>
          <p:nvPr/>
        </p:nvSpPr>
        <p:spPr>
          <a:xfrm>
            <a:off x="2788920" y="6492240"/>
            <a:ext cx="1920240" cy="1097280"/>
          </a:xfrm>
          <a:prstGeom prst="rect">
            <a:avLst/>
          </a:prstGeom>
          <a:noFill/>
          <a:ln/>
        </p:spPr>
        <p:txBody>
          <a:bodyPr wrap="square" lIns="0" tIns="0" rIns="0" bIns="0" rtlCol="0" anchor="t"/>
          <a:lstStyle/>
          <a:p>
            <a:pPr marL="0" indent="0">
              <a:buNone/>
            </a:pPr>
            <a:r>
              <a:rPr lang="az-Latn-AZ" sz="1700" b="1" dirty="0">
                <a:solidFill>
                  <a:srgbClr val="111111"/>
                </a:solidFill>
                <a:latin typeface="Poppins" pitchFamily="34" charset="0"/>
                <a:ea typeface="Poppins" pitchFamily="34" charset="-122"/>
                <a:cs typeface="Poppins" pitchFamily="34" charset="-120"/>
              </a:rPr>
              <a:t>Bütün bildirişlərin canlı xəritəsi</a:t>
            </a:r>
            <a:endParaRPr lang="en-US" sz="1700" dirty="0"/>
          </a:p>
        </p:txBody>
      </p:sp>
      <p:sp>
        <p:nvSpPr>
          <p:cNvPr id="13" name="Icon circle"/>
          <p:cNvSpPr/>
          <p:nvPr/>
        </p:nvSpPr>
        <p:spPr>
          <a:xfrm>
            <a:off x="4937760" y="539496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4" name="Icon" descr="preencoded.png"/>
          <p:cNvPicPr>
            <a:picLocks noChangeAspect="1"/>
          </p:cNvPicPr>
          <p:nvPr/>
        </p:nvPicPr>
        <p:blipFill>
          <a:blip r:embed="rId6"/>
          <a:stretch>
            <a:fillRect/>
          </a:stretch>
        </p:blipFill>
        <p:spPr>
          <a:xfrm>
            <a:off x="5184648" y="5641848"/>
            <a:ext cx="420624" cy="420624"/>
          </a:xfrm>
          <a:prstGeom prst="rect">
            <a:avLst/>
          </a:prstGeom>
        </p:spPr>
      </p:pic>
      <p:sp>
        <p:nvSpPr>
          <p:cNvPr id="15" name="Text 9"/>
          <p:cNvSpPr txBox="1"/>
          <p:nvPr/>
        </p:nvSpPr>
        <p:spPr>
          <a:xfrm>
            <a:off x="4937760" y="6492240"/>
            <a:ext cx="1920240" cy="1097280"/>
          </a:xfrm>
          <a:prstGeom prst="rect">
            <a:avLst/>
          </a:prstGeom>
          <a:noFill/>
          <a:ln/>
        </p:spPr>
        <p:txBody>
          <a:bodyPr wrap="square" lIns="0" tIns="0" rIns="0" bIns="0" rtlCol="0" anchor="t"/>
          <a:lstStyle/>
          <a:p>
            <a:pPr marL="0" indent="0">
              <a:buNone/>
            </a:pPr>
            <a:r>
              <a:rPr lang="az-Latn-AZ" sz="1700" b="1" dirty="0">
                <a:solidFill>
                  <a:srgbClr val="111111"/>
                </a:solidFill>
                <a:latin typeface="Poppins" pitchFamily="34" charset="0"/>
                <a:ea typeface="Poppins" pitchFamily="34" charset="-122"/>
                <a:cs typeface="Poppins" pitchFamily="34" charset="-120"/>
              </a:rPr>
              <a:t>Problemi bir toxunuşla bildirin</a:t>
            </a:r>
            <a:endParaRPr lang="en-US" sz="1700" dirty="0"/>
          </a:p>
        </p:txBody>
      </p:sp>
      <p:sp>
        <p:nvSpPr>
          <p:cNvPr id="16" name="Hero circle"/>
          <p:cNvSpPr/>
          <p:nvPr/>
        </p:nvSpPr>
        <p:spPr>
          <a:xfrm>
            <a:off x="7406640" y="2011680"/>
            <a:ext cx="4206240" cy="4206240"/>
          </a:xfrm>
          <a:prstGeom prst="ellipse">
            <a:avLst/>
          </a:prstGeom>
          <a:solidFill>
            <a:srgbClr val="F0FBF1"/>
          </a:solidFill>
          <a:ln w="12700">
            <a:solidFill>
              <a:srgbClr val="F0FBF1"/>
            </a:solidFill>
            <a:prstDash val="solid"/>
          </a:ln>
        </p:spPr>
        <p:txBody>
          <a:bodyPr/>
          <a:lstStyle/>
          <a:p>
            <a:endParaRPr lang="tr-TR"/>
          </a:p>
        </p:txBody>
      </p:sp>
      <p:pic>
        <p:nvPicPr>
          <p:cNvPr id="17" name="Bin" descr="/home/claude/build/bin.png"/>
          <p:cNvPicPr>
            <a:picLocks noChangeAspect="1"/>
          </p:cNvPicPr>
          <p:nvPr/>
        </p:nvPicPr>
        <p:blipFill>
          <a:blip r:embed="rId7"/>
          <a:stretch>
            <a:fillRect/>
          </a:stretch>
        </p:blipFill>
        <p:spPr>
          <a:xfrm>
            <a:off x="7680960" y="2662255"/>
            <a:ext cx="3657600" cy="48253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parkle"/>
          <p:cNvSpPr/>
          <p:nvPr/>
        </p:nvSpPr>
        <p:spPr>
          <a:xfrm rot="18300000">
            <a:off x="10881360" y="640080"/>
            <a:ext cx="292608" cy="384048"/>
          </a:xfrm>
          <a:prstGeom prst="triangle">
            <a:avLst/>
          </a:prstGeom>
          <a:solidFill>
            <a:srgbClr val="238B3F"/>
          </a:solidFill>
          <a:ln w="12700">
            <a:solidFill>
              <a:srgbClr val="238B3F"/>
            </a:solidFill>
            <a:prstDash val="solid"/>
          </a:ln>
        </p:spPr>
        <p:txBody>
          <a:bodyPr/>
          <a:lstStyle/>
          <a:p>
            <a:endParaRPr lang="tr-TR"/>
          </a:p>
        </p:txBody>
      </p:sp>
      <p:sp>
        <p:nvSpPr>
          <p:cNvPr id="3" name="Sparkle"/>
          <p:cNvSpPr/>
          <p:nvPr/>
        </p:nvSpPr>
        <p:spPr>
          <a:xfrm rot="14100000">
            <a:off x="10972800" y="1097280"/>
            <a:ext cx="292608" cy="384048"/>
          </a:xfrm>
          <a:prstGeom prst="triangle">
            <a:avLst/>
          </a:prstGeom>
          <a:solidFill>
            <a:srgbClr val="238B3F"/>
          </a:solidFill>
          <a:ln w="12700">
            <a:solidFill>
              <a:srgbClr val="238B3F"/>
            </a:solidFill>
            <a:prstDash val="solid"/>
          </a:ln>
        </p:spPr>
        <p:txBody>
          <a:bodyPr/>
          <a:lstStyle/>
          <a:p>
            <a:endParaRPr lang="tr-TR"/>
          </a:p>
        </p:txBody>
      </p:sp>
      <p:sp>
        <p:nvSpPr>
          <p:cNvPr id="4"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Gözləmirik. </a:t>
            </a:r>
            <a:r>
              <a:rPr lang="en-US" sz="3600" b="1" dirty="0" err="1">
                <a:solidFill>
                  <a:srgbClr val="238B3F"/>
                </a:solidFill>
                <a:latin typeface="Poppins" pitchFamily="34" charset="0"/>
                <a:ea typeface="Poppins" pitchFamily="34" charset="-122"/>
                <a:cs typeface="Poppins" pitchFamily="34" charset="-120"/>
              </a:rPr>
              <a:t>Problemi</a:t>
            </a:r>
            <a:r>
              <a:rPr lang="en-US" sz="3600" b="1" dirty="0">
                <a:solidFill>
                  <a:srgbClr val="238B3F"/>
                </a:solidFill>
                <a:latin typeface="Poppins" pitchFamily="34" charset="0"/>
                <a:ea typeface="Poppins" pitchFamily="34" charset="-122"/>
                <a:cs typeface="Poppins" pitchFamily="34" charset="-120"/>
              </a:rPr>
              <a:t> h</a:t>
            </a:r>
            <a:r>
              <a:rPr lang="az-Latn-AZ" sz="3600" b="1" dirty="0">
                <a:solidFill>
                  <a:srgbClr val="238B3F"/>
                </a:solidFill>
                <a:latin typeface="Poppins" pitchFamily="34" charset="0"/>
                <a:ea typeface="Poppins" pitchFamily="34" charset="-122"/>
                <a:cs typeface="Poppins" pitchFamily="34" charset="-120"/>
              </a:rPr>
              <a:t>əll edirik.</a:t>
            </a:r>
            <a:endParaRPr lang="en-US" sz="3600" dirty="0"/>
          </a:p>
        </p:txBody>
      </p:sp>
      <p:pic>
        <p:nvPicPr>
          <p:cNvPr id="5" name="Fatma nənə" descr="/home/claude/build/fatma_idea.png"/>
          <p:cNvPicPr>
            <a:picLocks noChangeAspect="1"/>
          </p:cNvPicPr>
          <p:nvPr/>
        </p:nvPicPr>
        <p:blipFill>
          <a:blip r:embed="rId3"/>
          <a:stretch>
            <a:fillRect/>
          </a:stretch>
        </p:blipFill>
        <p:spPr>
          <a:xfrm>
            <a:off x="457200" y="1885105"/>
            <a:ext cx="4206240" cy="6105311"/>
          </a:xfrm>
          <a:prstGeom prst="rect">
            <a:avLst/>
          </a:prstGeom>
        </p:spPr>
      </p:pic>
      <p:sp>
        <p:nvSpPr>
          <p:cNvPr id="6" name="Icon circle"/>
          <p:cNvSpPr/>
          <p:nvPr/>
        </p:nvSpPr>
        <p:spPr>
          <a:xfrm>
            <a:off x="5120640" y="228600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7" name="Icon" descr="preencoded.png"/>
          <p:cNvPicPr>
            <a:picLocks noChangeAspect="1"/>
          </p:cNvPicPr>
          <p:nvPr/>
        </p:nvPicPr>
        <p:blipFill>
          <a:blip r:embed="rId4"/>
          <a:stretch>
            <a:fillRect/>
          </a:stretch>
        </p:blipFill>
        <p:spPr>
          <a:xfrm>
            <a:off x="5367528" y="2532888"/>
            <a:ext cx="420624" cy="420624"/>
          </a:xfrm>
          <a:prstGeom prst="rect">
            <a:avLst/>
          </a:prstGeom>
        </p:spPr>
      </p:pic>
      <p:sp>
        <p:nvSpPr>
          <p:cNvPr id="8" name="Text 4"/>
          <p:cNvSpPr txBox="1"/>
          <p:nvPr/>
        </p:nvSpPr>
        <p:spPr>
          <a:xfrm>
            <a:off x="5120640" y="3383280"/>
            <a:ext cx="3017520" cy="1371600"/>
          </a:xfrm>
          <a:prstGeom prst="rect">
            <a:avLst/>
          </a:prstGeom>
          <a:noFill/>
          <a:ln/>
        </p:spPr>
        <p:txBody>
          <a:bodyPr wrap="square" lIns="0" tIns="0" rIns="0" bIns="0" rtlCol="0" anchor="t"/>
          <a:lstStyle/>
          <a:p>
            <a:pPr marL="0" indent="0">
              <a:buNone/>
            </a:pPr>
            <a:r>
              <a:rPr lang="az-Latn-AZ" sz="1900" dirty="0">
                <a:solidFill>
                  <a:srgbClr val="111111"/>
                </a:solidFill>
                <a:latin typeface="Poppins" pitchFamily="34" charset="0"/>
                <a:ea typeface="Poppins" pitchFamily="34" charset="-122"/>
                <a:cs typeface="Poppins" pitchFamily="34" charset="-120"/>
              </a:rPr>
              <a:t>“+” düyməsi ilə foto çəkin, səs yazın və ya mətn göndərin</a:t>
            </a:r>
            <a:endParaRPr lang="en-US" sz="1900" dirty="0"/>
          </a:p>
        </p:txBody>
      </p:sp>
      <p:sp>
        <p:nvSpPr>
          <p:cNvPr id="9" name="Icon circle"/>
          <p:cNvSpPr/>
          <p:nvPr/>
        </p:nvSpPr>
        <p:spPr>
          <a:xfrm>
            <a:off x="8412480" y="228600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0" name="Icon" descr="preencoded.png"/>
          <p:cNvPicPr>
            <a:picLocks noChangeAspect="1"/>
          </p:cNvPicPr>
          <p:nvPr/>
        </p:nvPicPr>
        <p:blipFill>
          <a:blip r:embed="rId5"/>
          <a:stretch>
            <a:fillRect/>
          </a:stretch>
        </p:blipFill>
        <p:spPr>
          <a:xfrm>
            <a:off x="8659368" y="2532888"/>
            <a:ext cx="420624" cy="420624"/>
          </a:xfrm>
          <a:prstGeom prst="rect">
            <a:avLst/>
          </a:prstGeom>
        </p:spPr>
      </p:pic>
      <p:sp>
        <p:nvSpPr>
          <p:cNvPr id="11" name="Text 6"/>
          <p:cNvSpPr txBox="1"/>
          <p:nvPr/>
        </p:nvSpPr>
        <p:spPr>
          <a:xfrm>
            <a:off x="8412480" y="3383280"/>
            <a:ext cx="3017520" cy="1371600"/>
          </a:xfrm>
          <a:prstGeom prst="rect">
            <a:avLst/>
          </a:prstGeom>
          <a:noFill/>
          <a:ln/>
        </p:spPr>
        <p:txBody>
          <a:bodyPr wrap="square" lIns="0" tIns="0" rIns="0" bIns="0" rtlCol="0" anchor="t"/>
          <a:lstStyle/>
          <a:p>
            <a:pPr marL="0" indent="0">
              <a:buNone/>
            </a:pPr>
            <a:r>
              <a:rPr lang="az-Latn-AZ" sz="1900" dirty="0">
                <a:solidFill>
                  <a:srgbClr val="111111"/>
                </a:solidFill>
                <a:latin typeface="Poppins" pitchFamily="34" charset="0"/>
                <a:ea typeface="Poppins" pitchFamily="34" charset="-122"/>
                <a:cs typeface="Poppins" pitchFamily="34" charset="-120"/>
              </a:rPr>
              <a:t>Süni intellekt problemin nə olduğunu avtomatik müəyyən edir</a:t>
            </a:r>
            <a:endParaRPr lang="en-US" sz="1900" dirty="0"/>
          </a:p>
        </p:txBody>
      </p:sp>
      <p:sp>
        <p:nvSpPr>
          <p:cNvPr id="12" name="Icon circle"/>
          <p:cNvSpPr/>
          <p:nvPr/>
        </p:nvSpPr>
        <p:spPr>
          <a:xfrm>
            <a:off x="5120640" y="521208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3" name="Icon" descr="preencoded.png"/>
          <p:cNvPicPr>
            <a:picLocks noChangeAspect="1"/>
          </p:cNvPicPr>
          <p:nvPr/>
        </p:nvPicPr>
        <p:blipFill>
          <a:blip r:embed="rId6"/>
          <a:stretch>
            <a:fillRect/>
          </a:stretch>
        </p:blipFill>
        <p:spPr>
          <a:xfrm>
            <a:off x="5367528" y="5458968"/>
            <a:ext cx="420624" cy="420624"/>
          </a:xfrm>
          <a:prstGeom prst="rect">
            <a:avLst/>
          </a:prstGeom>
        </p:spPr>
      </p:pic>
      <p:sp>
        <p:nvSpPr>
          <p:cNvPr id="14" name="Text 8"/>
          <p:cNvSpPr txBox="1"/>
          <p:nvPr/>
        </p:nvSpPr>
        <p:spPr>
          <a:xfrm>
            <a:off x="5120640" y="6309360"/>
            <a:ext cx="3017520" cy="1371600"/>
          </a:xfrm>
          <a:prstGeom prst="rect">
            <a:avLst/>
          </a:prstGeom>
          <a:noFill/>
          <a:ln/>
        </p:spPr>
        <p:txBody>
          <a:bodyPr wrap="square" lIns="0" tIns="0" rIns="0" bIns="0" rtlCol="0" anchor="t"/>
          <a:lstStyle/>
          <a:p>
            <a:pPr marL="0" indent="0">
              <a:buNone/>
            </a:pPr>
            <a:r>
              <a:rPr lang="az-Latn-AZ" sz="1900" dirty="0">
                <a:solidFill>
                  <a:srgbClr val="111111"/>
                </a:solidFill>
                <a:latin typeface="Poppins" pitchFamily="34" charset="0"/>
                <a:ea typeface="Poppins" pitchFamily="34" charset="-122"/>
                <a:cs typeface="Poppins" pitchFamily="34" charset="-120"/>
              </a:rPr>
              <a:t>Dəqiq məkan GPS vasitəsilə müəyyən edilir</a:t>
            </a:r>
            <a:endParaRPr lang="en-US" sz="1900" dirty="0"/>
          </a:p>
        </p:txBody>
      </p:sp>
      <p:sp>
        <p:nvSpPr>
          <p:cNvPr id="15" name="Icon circle"/>
          <p:cNvSpPr/>
          <p:nvPr/>
        </p:nvSpPr>
        <p:spPr>
          <a:xfrm>
            <a:off x="8412480" y="521208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6" name="Icon" descr="preencoded.png"/>
          <p:cNvPicPr>
            <a:picLocks noChangeAspect="1"/>
          </p:cNvPicPr>
          <p:nvPr/>
        </p:nvPicPr>
        <p:blipFill>
          <a:blip r:embed="rId7"/>
          <a:stretch>
            <a:fillRect/>
          </a:stretch>
        </p:blipFill>
        <p:spPr>
          <a:xfrm>
            <a:off x="8659368" y="5458968"/>
            <a:ext cx="420624" cy="420624"/>
          </a:xfrm>
          <a:prstGeom prst="rect">
            <a:avLst/>
          </a:prstGeom>
        </p:spPr>
      </p:pic>
      <p:sp>
        <p:nvSpPr>
          <p:cNvPr id="17" name="Text 10"/>
          <p:cNvSpPr txBox="1"/>
          <p:nvPr/>
        </p:nvSpPr>
        <p:spPr>
          <a:xfrm>
            <a:off x="8412480" y="6309360"/>
            <a:ext cx="3017520" cy="1371600"/>
          </a:xfrm>
          <a:prstGeom prst="rect">
            <a:avLst/>
          </a:prstGeom>
          <a:noFill/>
          <a:ln/>
        </p:spPr>
        <p:txBody>
          <a:bodyPr wrap="square" lIns="0" tIns="0" rIns="0" bIns="0" rtlCol="0" anchor="t"/>
          <a:lstStyle/>
          <a:p>
            <a:pPr marL="0" indent="0">
              <a:buNone/>
            </a:pPr>
            <a:r>
              <a:rPr lang="az-Latn-AZ" sz="1900" dirty="0">
                <a:solidFill>
                  <a:srgbClr val="111111"/>
                </a:solidFill>
                <a:latin typeface="Poppins" pitchFamily="34" charset="0"/>
                <a:ea typeface="Poppins" pitchFamily="34" charset="-122"/>
                <a:cs typeface="Poppins" pitchFamily="34" charset="-120"/>
              </a:rPr>
              <a:t>Birbaşa məsul qurumlara yönləndirilir (Azərsu, Azəriqaz və 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Tətbiqin </a:t>
            </a:r>
            <a:r>
              <a:rPr lang="az-Latn-AZ" sz="3600" b="1" dirty="0">
                <a:solidFill>
                  <a:srgbClr val="238B3F"/>
                </a:solidFill>
                <a:latin typeface="Poppins" pitchFamily="34" charset="0"/>
                <a:ea typeface="Poppins" pitchFamily="34" charset="-122"/>
                <a:cs typeface="Poppins" pitchFamily="34" charset="-120"/>
              </a:rPr>
              <a:t>interfeysi</a:t>
            </a:r>
            <a:endParaRPr lang="en-US" sz="3600" dirty="0"/>
          </a:p>
        </p:txBody>
      </p:sp>
      <p:sp>
        <p:nvSpPr>
          <p:cNvPr id="3" name="Icon circle"/>
          <p:cNvSpPr/>
          <p:nvPr/>
        </p:nvSpPr>
        <p:spPr>
          <a:xfrm>
            <a:off x="640080" y="219456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4" name="Icon" descr="preencoded.png"/>
          <p:cNvPicPr>
            <a:picLocks noChangeAspect="1"/>
          </p:cNvPicPr>
          <p:nvPr/>
        </p:nvPicPr>
        <p:blipFill>
          <a:blip r:embed="rId3"/>
          <a:stretch>
            <a:fillRect/>
          </a:stretch>
        </p:blipFill>
        <p:spPr>
          <a:xfrm>
            <a:off x="886968" y="2441448"/>
            <a:ext cx="420624" cy="420624"/>
          </a:xfrm>
          <a:prstGeom prst="rect">
            <a:avLst/>
          </a:prstGeom>
        </p:spPr>
      </p:pic>
      <p:sp>
        <p:nvSpPr>
          <p:cNvPr id="5" name="Text 2"/>
          <p:cNvSpPr txBox="1"/>
          <p:nvPr/>
        </p:nvSpPr>
        <p:spPr>
          <a:xfrm>
            <a:off x="1828800" y="2194560"/>
            <a:ext cx="3108960" cy="914400"/>
          </a:xfrm>
          <a:prstGeom prst="rect">
            <a:avLst/>
          </a:prstGeom>
          <a:noFill/>
          <a:ln/>
        </p:spPr>
        <p:txBody>
          <a:bodyPr wrap="square" lIns="0" tIns="0" rIns="0" bIns="0" rtlCol="0" anchor="ctr"/>
          <a:lstStyle/>
          <a:p>
            <a:pPr marL="0" indent="0">
              <a:buNone/>
            </a:pPr>
            <a:r>
              <a:rPr lang="az-Latn-AZ" sz="2000" b="1" dirty="0">
                <a:solidFill>
                  <a:srgbClr val="111111"/>
                </a:solidFill>
                <a:latin typeface="Poppins" pitchFamily="34" charset="0"/>
                <a:ea typeface="Poppins" pitchFamily="34" charset="-122"/>
                <a:cs typeface="Poppins" pitchFamily="34" charset="-120"/>
              </a:rPr>
              <a:t>İstifadəçi dostu dizayn</a:t>
            </a:r>
            <a:endParaRPr lang="en-US" sz="2000" dirty="0"/>
          </a:p>
        </p:txBody>
      </p:sp>
      <p:sp>
        <p:nvSpPr>
          <p:cNvPr id="6" name="Icon circle"/>
          <p:cNvSpPr/>
          <p:nvPr/>
        </p:nvSpPr>
        <p:spPr>
          <a:xfrm>
            <a:off x="640080" y="411480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7" name="Icon" descr="preencoded.png"/>
          <p:cNvPicPr>
            <a:picLocks noChangeAspect="1"/>
          </p:cNvPicPr>
          <p:nvPr/>
        </p:nvPicPr>
        <p:blipFill>
          <a:blip r:embed="rId4"/>
          <a:stretch>
            <a:fillRect/>
          </a:stretch>
        </p:blipFill>
        <p:spPr>
          <a:xfrm>
            <a:off x="886968" y="4361688"/>
            <a:ext cx="420624" cy="420624"/>
          </a:xfrm>
          <a:prstGeom prst="rect">
            <a:avLst/>
          </a:prstGeom>
        </p:spPr>
      </p:pic>
      <p:sp>
        <p:nvSpPr>
          <p:cNvPr id="8" name="Text 4"/>
          <p:cNvSpPr txBox="1"/>
          <p:nvPr/>
        </p:nvSpPr>
        <p:spPr>
          <a:xfrm>
            <a:off x="1828800" y="4114800"/>
            <a:ext cx="3108960" cy="914400"/>
          </a:xfrm>
          <a:prstGeom prst="rect">
            <a:avLst/>
          </a:prstGeom>
          <a:noFill/>
          <a:ln/>
        </p:spPr>
        <p:txBody>
          <a:bodyPr wrap="square" lIns="0" tIns="0" rIns="0" bIns="0" rtlCol="0" anchor="ctr"/>
          <a:lstStyle/>
          <a:p>
            <a:pPr marL="0" indent="0">
              <a:buNone/>
            </a:pPr>
            <a:r>
              <a:rPr lang="az-Latn-AZ" sz="2000" b="1" dirty="0">
                <a:solidFill>
                  <a:srgbClr val="111111"/>
                </a:solidFill>
                <a:latin typeface="Poppins" pitchFamily="34" charset="0"/>
                <a:ea typeface="Poppins" pitchFamily="34" charset="-122"/>
                <a:cs typeface="Poppins" pitchFamily="34" charset="-120"/>
              </a:rPr>
              <a:t>Problemin asan bildirilməsi</a:t>
            </a:r>
            <a:endParaRPr lang="en-US" sz="2000" dirty="0"/>
          </a:p>
        </p:txBody>
      </p:sp>
      <p:sp>
        <p:nvSpPr>
          <p:cNvPr id="9" name="Icon circle"/>
          <p:cNvSpPr/>
          <p:nvPr/>
        </p:nvSpPr>
        <p:spPr>
          <a:xfrm>
            <a:off x="640080" y="603504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0" name="Icon" descr="preencoded.png"/>
          <p:cNvPicPr>
            <a:picLocks noChangeAspect="1"/>
          </p:cNvPicPr>
          <p:nvPr/>
        </p:nvPicPr>
        <p:blipFill>
          <a:blip r:embed="rId5"/>
          <a:stretch>
            <a:fillRect/>
          </a:stretch>
        </p:blipFill>
        <p:spPr>
          <a:xfrm>
            <a:off x="886968" y="6281928"/>
            <a:ext cx="420624" cy="420624"/>
          </a:xfrm>
          <a:prstGeom prst="rect">
            <a:avLst/>
          </a:prstGeom>
        </p:spPr>
      </p:pic>
      <p:sp>
        <p:nvSpPr>
          <p:cNvPr id="11" name="Text 6"/>
          <p:cNvSpPr txBox="1"/>
          <p:nvPr/>
        </p:nvSpPr>
        <p:spPr>
          <a:xfrm>
            <a:off x="1828800" y="6035040"/>
            <a:ext cx="3108960" cy="914400"/>
          </a:xfrm>
          <a:prstGeom prst="rect">
            <a:avLst/>
          </a:prstGeom>
          <a:noFill/>
          <a:ln/>
        </p:spPr>
        <p:txBody>
          <a:bodyPr wrap="square" lIns="0" tIns="0" rIns="0" bIns="0" rtlCol="0" anchor="ctr"/>
          <a:lstStyle/>
          <a:p>
            <a:pPr marL="0" indent="0">
              <a:buNone/>
            </a:pPr>
            <a:r>
              <a:rPr lang="az-Latn-AZ" sz="2000" b="1" dirty="0">
                <a:solidFill>
                  <a:srgbClr val="111111"/>
                </a:solidFill>
                <a:latin typeface="Poppins" pitchFamily="34" charset="0"/>
                <a:ea typeface="Poppins" pitchFamily="34" charset="-122"/>
                <a:cs typeface="Poppins" pitchFamily="34" charset="-120"/>
              </a:rPr>
              <a:t>Prosesin real vaxtda izlənilməsi</a:t>
            </a:r>
            <a:endParaRPr lang="en-US" sz="2000" dirty="0"/>
          </a:p>
        </p:txBody>
      </p:sp>
      <p:pic>
        <p:nvPicPr>
          <p:cNvPr id="12" name="App screenshot 1" descr="SmartLine app screenshot 1"/>
          <p:cNvPicPr>
            <a:picLocks noChangeAspect="1"/>
          </p:cNvPicPr>
          <p:nvPr/>
        </p:nvPicPr>
        <p:blipFill>
          <a:blip r:embed="rId6"/>
          <a:srcRect t="1020" b="1020"/>
          <a:stretch>
            <a:fillRect/>
          </a:stretch>
        </p:blipFill>
        <p:spPr>
          <a:xfrm>
            <a:off x="5538894" y="1912925"/>
            <a:ext cx="2590804" cy="5501030"/>
          </a:xfrm>
          <a:prstGeom prst="roundRect">
            <a:avLst>
              <a:gd name="adj" fmla="val 8824"/>
            </a:avLst>
          </a:prstGeom>
        </p:spPr>
      </p:pic>
      <p:pic>
        <p:nvPicPr>
          <p:cNvPr id="14" name="Phone frame 1" descr="/home/claude/build/phone.png"/>
          <p:cNvPicPr>
            <a:picLocks noChangeAspect="1"/>
          </p:cNvPicPr>
          <p:nvPr/>
        </p:nvPicPr>
        <p:blipFill>
          <a:blip r:embed="rId7"/>
          <a:stretch>
            <a:fillRect/>
          </a:stretch>
        </p:blipFill>
        <p:spPr>
          <a:xfrm>
            <a:off x="5394960" y="1737360"/>
            <a:ext cx="2878671" cy="5852160"/>
          </a:xfrm>
          <a:prstGeom prst="rect">
            <a:avLst/>
          </a:prstGeom>
        </p:spPr>
      </p:pic>
      <p:pic>
        <p:nvPicPr>
          <p:cNvPr id="15" name="App screenshot 2" descr="SmartLine app screenshot 2"/>
          <p:cNvPicPr>
            <a:picLocks noChangeAspect="1"/>
          </p:cNvPicPr>
          <p:nvPr/>
        </p:nvPicPr>
        <p:blipFill>
          <a:blip r:embed="rId8"/>
          <a:srcRect t="1020" b="1020"/>
          <a:stretch>
            <a:fillRect/>
          </a:stretch>
        </p:blipFill>
        <p:spPr>
          <a:xfrm>
            <a:off x="8739294" y="1912925"/>
            <a:ext cx="2590804" cy="5501030"/>
          </a:xfrm>
          <a:prstGeom prst="roundRect">
            <a:avLst>
              <a:gd name="adj" fmla="val 8824"/>
            </a:avLst>
          </a:prstGeom>
        </p:spPr>
      </p:pic>
      <p:pic>
        <p:nvPicPr>
          <p:cNvPr id="17" name="Phone frame 2" descr="/home/claude/build/phone.png"/>
          <p:cNvPicPr>
            <a:picLocks noChangeAspect="1"/>
          </p:cNvPicPr>
          <p:nvPr/>
        </p:nvPicPr>
        <p:blipFill>
          <a:blip r:embed="rId7"/>
          <a:stretch>
            <a:fillRect/>
          </a:stretch>
        </p:blipFill>
        <p:spPr>
          <a:xfrm>
            <a:off x="8595360" y="1737360"/>
            <a:ext cx="2878671" cy="5852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Bazar </a:t>
            </a:r>
            <a:r>
              <a:rPr lang="az-Latn-AZ" sz="3600" b="1" dirty="0">
                <a:solidFill>
                  <a:srgbClr val="238B3F"/>
                </a:solidFill>
                <a:latin typeface="Poppins" pitchFamily="34" charset="0"/>
                <a:ea typeface="Poppins" pitchFamily="34" charset="-122"/>
                <a:cs typeface="Poppins" pitchFamily="34" charset="-120"/>
              </a:rPr>
              <a:t>potensialı</a:t>
            </a:r>
            <a:endParaRPr lang="en-US" sz="3600" dirty="0"/>
          </a:p>
        </p:txBody>
      </p:sp>
      <p:sp>
        <p:nvSpPr>
          <p:cNvPr id="3" name="TAM circle"/>
          <p:cNvSpPr/>
          <p:nvPr/>
        </p:nvSpPr>
        <p:spPr>
          <a:xfrm>
            <a:off x="731520" y="2011680"/>
            <a:ext cx="5669280" cy="5669280"/>
          </a:xfrm>
          <a:prstGeom prst="ellipse">
            <a:avLst/>
          </a:prstGeom>
          <a:solidFill>
            <a:srgbClr val="E6F6E7"/>
          </a:solidFill>
          <a:ln w="12700">
            <a:solidFill>
              <a:srgbClr val="D3EAD6"/>
            </a:solidFill>
            <a:prstDash val="solid"/>
          </a:ln>
        </p:spPr>
        <p:txBody>
          <a:bodyPr/>
          <a:lstStyle/>
          <a:p>
            <a:endParaRPr lang="tr-TR"/>
          </a:p>
        </p:txBody>
      </p:sp>
      <p:sp>
        <p:nvSpPr>
          <p:cNvPr id="4" name="SAM circle"/>
          <p:cNvSpPr/>
          <p:nvPr/>
        </p:nvSpPr>
        <p:spPr>
          <a:xfrm>
            <a:off x="1645920" y="3840480"/>
            <a:ext cx="3840480" cy="3840480"/>
          </a:xfrm>
          <a:prstGeom prst="ellipse">
            <a:avLst/>
          </a:prstGeom>
          <a:solidFill>
            <a:srgbClr val="9BDD8A"/>
          </a:solidFill>
          <a:ln w="12700">
            <a:solidFill>
              <a:srgbClr val="9BDD8A"/>
            </a:solidFill>
            <a:prstDash val="solid"/>
          </a:ln>
        </p:spPr>
        <p:txBody>
          <a:bodyPr/>
          <a:lstStyle/>
          <a:p>
            <a:endParaRPr lang="tr-TR"/>
          </a:p>
        </p:txBody>
      </p:sp>
      <p:sp>
        <p:nvSpPr>
          <p:cNvPr id="5" name="SOM circle"/>
          <p:cNvSpPr/>
          <p:nvPr/>
        </p:nvSpPr>
        <p:spPr>
          <a:xfrm>
            <a:off x="2560320" y="5669280"/>
            <a:ext cx="2011680" cy="2011680"/>
          </a:xfrm>
          <a:prstGeom prst="ellipse">
            <a:avLst/>
          </a:prstGeom>
          <a:solidFill>
            <a:srgbClr val="1A6B1A"/>
          </a:solidFill>
          <a:ln w="12700">
            <a:solidFill>
              <a:srgbClr val="1A6B1A"/>
            </a:solidFill>
            <a:prstDash val="solid"/>
          </a:ln>
        </p:spPr>
        <p:txBody>
          <a:bodyPr/>
          <a:lstStyle/>
          <a:p>
            <a:endParaRPr lang="tr-TR"/>
          </a:p>
        </p:txBody>
      </p:sp>
      <p:sp>
        <p:nvSpPr>
          <p:cNvPr id="6" name="Text 4"/>
          <p:cNvSpPr txBox="1"/>
          <p:nvPr/>
        </p:nvSpPr>
        <p:spPr>
          <a:xfrm>
            <a:off x="2194560" y="2331720"/>
            <a:ext cx="2743200" cy="1097280"/>
          </a:xfrm>
          <a:prstGeom prst="rect">
            <a:avLst/>
          </a:prstGeom>
          <a:noFill/>
          <a:ln/>
        </p:spPr>
        <p:txBody>
          <a:bodyPr wrap="square" lIns="0" tIns="0" rIns="0" bIns="0" rtlCol="0" anchor="ctr"/>
          <a:lstStyle/>
          <a:p>
            <a:pPr marL="0" indent="0" algn="ctr">
              <a:buNone/>
            </a:pPr>
            <a:r>
              <a:rPr lang="en-US" sz="1500" b="1" dirty="0">
                <a:solidFill>
                  <a:srgbClr val="238B3F"/>
                </a:solidFill>
                <a:latin typeface="Poppins" pitchFamily="34" charset="0"/>
                <a:ea typeface="Poppins" pitchFamily="34" charset="-122"/>
                <a:cs typeface="Poppins" pitchFamily="34" charset="-120"/>
              </a:rPr>
              <a:t>TAM</a:t>
            </a:r>
            <a:endParaRPr lang="en-US" sz="1500" dirty="0"/>
          </a:p>
          <a:p>
            <a:pPr marL="0" indent="0" algn="ctr">
              <a:buNone/>
            </a:pPr>
            <a:r>
              <a:rPr lang="en-US" sz="2200" b="1" dirty="0">
                <a:solidFill>
                  <a:srgbClr val="111111"/>
                </a:solidFill>
                <a:latin typeface="Poppins" pitchFamily="34" charset="0"/>
                <a:ea typeface="Poppins" pitchFamily="34" charset="-122"/>
                <a:cs typeface="Poppins" pitchFamily="34" charset="-120"/>
              </a:rPr>
              <a:t>1.8</a:t>
            </a:r>
            <a:r>
              <a:rPr lang="az-Latn-AZ" sz="2200" b="1" dirty="0">
                <a:solidFill>
                  <a:srgbClr val="111111"/>
                </a:solidFill>
                <a:latin typeface="Poppins" pitchFamily="34" charset="0"/>
                <a:ea typeface="Poppins" pitchFamily="34" charset="-122"/>
                <a:cs typeface="Poppins" pitchFamily="34" charset="-120"/>
              </a:rPr>
              <a:t> </a:t>
            </a:r>
            <a:r>
              <a:rPr lang="en-US" sz="2200" b="1" dirty="0" err="1">
                <a:solidFill>
                  <a:srgbClr val="111111"/>
                </a:solidFill>
                <a:latin typeface="Poppins" pitchFamily="34" charset="0"/>
                <a:ea typeface="Poppins" pitchFamily="34" charset="-122"/>
                <a:cs typeface="Poppins" pitchFamily="34" charset="-120"/>
              </a:rPr>
              <a:t>milyard</a:t>
            </a:r>
            <a:r>
              <a:rPr lang="az-Latn-AZ" sz="2200" b="1" dirty="0">
                <a:solidFill>
                  <a:srgbClr val="111111"/>
                </a:solidFill>
                <a:latin typeface="Poppins" pitchFamily="34" charset="0"/>
                <a:ea typeface="Poppins" pitchFamily="34" charset="-122"/>
                <a:cs typeface="Poppins" pitchFamily="34" charset="-120"/>
              </a:rPr>
              <a:t> $</a:t>
            </a:r>
            <a:endParaRPr lang="en-US" sz="1500" dirty="0"/>
          </a:p>
        </p:txBody>
      </p:sp>
      <p:sp>
        <p:nvSpPr>
          <p:cNvPr id="7" name="Text 5"/>
          <p:cNvSpPr txBox="1"/>
          <p:nvPr/>
        </p:nvSpPr>
        <p:spPr>
          <a:xfrm>
            <a:off x="2194560" y="4160520"/>
            <a:ext cx="2743200" cy="1097280"/>
          </a:xfrm>
          <a:prstGeom prst="rect">
            <a:avLst/>
          </a:prstGeom>
          <a:noFill/>
          <a:ln/>
        </p:spPr>
        <p:txBody>
          <a:bodyPr wrap="square" lIns="0" tIns="0" rIns="0" bIns="0" rtlCol="0" anchor="ctr"/>
          <a:lstStyle/>
          <a:p>
            <a:pPr marL="0" indent="0" algn="ctr">
              <a:buNone/>
            </a:pPr>
            <a:r>
              <a:rPr lang="en-US" sz="1500" b="1" dirty="0">
                <a:solidFill>
                  <a:srgbClr val="1A6B1A"/>
                </a:solidFill>
                <a:latin typeface="Poppins" pitchFamily="34" charset="0"/>
                <a:ea typeface="Poppins" pitchFamily="34" charset="-122"/>
                <a:cs typeface="Poppins" pitchFamily="34" charset="-120"/>
              </a:rPr>
              <a:t>SAM</a:t>
            </a:r>
            <a:endParaRPr lang="en-US" sz="1500" dirty="0"/>
          </a:p>
          <a:p>
            <a:pPr marL="0" indent="0" algn="ctr">
              <a:buNone/>
            </a:pPr>
            <a:r>
              <a:rPr lang="en-US" sz="2200" b="1" dirty="0">
                <a:solidFill>
                  <a:srgbClr val="111111"/>
                </a:solidFill>
                <a:latin typeface="Poppins" pitchFamily="34" charset="0"/>
                <a:ea typeface="Poppins" pitchFamily="34" charset="-122"/>
                <a:cs typeface="Poppins" pitchFamily="34" charset="-120"/>
              </a:rPr>
              <a:t>8</a:t>
            </a:r>
            <a:r>
              <a:rPr lang="az-Latn-AZ" sz="2200" b="1" dirty="0">
                <a:solidFill>
                  <a:srgbClr val="111111"/>
                </a:solidFill>
                <a:latin typeface="Poppins" pitchFamily="34" charset="0"/>
                <a:ea typeface="Poppins" pitchFamily="34" charset="-122"/>
                <a:cs typeface="Poppins" pitchFamily="34" charset="-120"/>
              </a:rPr>
              <a:t> milyon $</a:t>
            </a:r>
            <a:endParaRPr lang="en-US" sz="1500" dirty="0"/>
          </a:p>
        </p:txBody>
      </p:sp>
      <p:sp>
        <p:nvSpPr>
          <p:cNvPr id="8" name="Text 6"/>
          <p:cNvSpPr txBox="1"/>
          <p:nvPr/>
        </p:nvSpPr>
        <p:spPr>
          <a:xfrm>
            <a:off x="2560320" y="6172200"/>
            <a:ext cx="2011680" cy="1005840"/>
          </a:xfrm>
          <a:prstGeom prst="rect">
            <a:avLst/>
          </a:prstGeom>
          <a:noFill/>
          <a:ln/>
        </p:spPr>
        <p:txBody>
          <a:bodyPr wrap="square" lIns="0" tIns="0" rIns="0" bIns="0" rtlCol="0" anchor="ctr"/>
          <a:lstStyle/>
          <a:p>
            <a:pPr marL="0" indent="0" algn="ctr">
              <a:buNone/>
            </a:pPr>
            <a:r>
              <a:rPr lang="en-US" sz="1500" b="1" dirty="0">
                <a:solidFill>
                  <a:srgbClr val="CFF3C6"/>
                </a:solidFill>
                <a:latin typeface="Poppins" pitchFamily="34" charset="0"/>
                <a:ea typeface="Poppins" pitchFamily="34" charset="-122"/>
                <a:cs typeface="Poppins" pitchFamily="34" charset="-120"/>
              </a:rPr>
              <a:t>SOM</a:t>
            </a:r>
            <a:endParaRPr lang="en-US" sz="1500" dirty="0"/>
          </a:p>
          <a:p>
            <a:pPr marL="0" indent="0" algn="ctr">
              <a:buNone/>
            </a:pPr>
            <a:r>
              <a:rPr lang="az-Latn-AZ" sz="2200" b="1" dirty="0">
                <a:solidFill>
                  <a:srgbClr val="FFFFFF"/>
                </a:solidFill>
                <a:latin typeface="Poppins" pitchFamily="34" charset="0"/>
                <a:ea typeface="Poppins" pitchFamily="34" charset="-122"/>
                <a:cs typeface="Poppins" pitchFamily="34" charset="-120"/>
              </a:rPr>
              <a:t>300 min $</a:t>
            </a:r>
            <a:endParaRPr lang="en-US" sz="1500" dirty="0"/>
          </a:p>
        </p:txBody>
      </p:sp>
      <p:sp>
        <p:nvSpPr>
          <p:cNvPr id="9" name="Legend dot"/>
          <p:cNvSpPr/>
          <p:nvPr/>
        </p:nvSpPr>
        <p:spPr>
          <a:xfrm>
            <a:off x="7223760" y="2578608"/>
            <a:ext cx="274320" cy="274320"/>
          </a:xfrm>
          <a:prstGeom prst="ellipse">
            <a:avLst/>
          </a:prstGeom>
          <a:solidFill>
            <a:srgbClr val="E6F6E7"/>
          </a:solidFill>
          <a:ln w="12700">
            <a:solidFill>
              <a:srgbClr val="238B3F"/>
            </a:solidFill>
            <a:prstDash val="solid"/>
          </a:ln>
        </p:spPr>
        <p:txBody>
          <a:bodyPr/>
          <a:lstStyle/>
          <a:p>
            <a:endParaRPr lang="tr-TR"/>
          </a:p>
        </p:txBody>
      </p:sp>
      <p:sp>
        <p:nvSpPr>
          <p:cNvPr id="10" name="Text 8"/>
          <p:cNvSpPr txBox="1"/>
          <p:nvPr/>
        </p:nvSpPr>
        <p:spPr>
          <a:xfrm>
            <a:off x="7772400" y="2468880"/>
            <a:ext cx="3840480" cy="640080"/>
          </a:xfrm>
          <a:prstGeom prst="rect">
            <a:avLst/>
          </a:prstGeom>
          <a:noFill/>
          <a:ln/>
        </p:spPr>
        <p:txBody>
          <a:bodyPr wrap="square" lIns="0" tIns="0" rIns="0" bIns="0" rtlCol="0" anchor="t"/>
          <a:lstStyle/>
          <a:p>
            <a:pPr marL="0" indent="0">
              <a:buNone/>
            </a:pPr>
            <a:r>
              <a:rPr lang="az-Latn-AZ" sz="2800" b="1" dirty="0">
                <a:solidFill>
                  <a:srgbClr val="238B3F"/>
                </a:solidFill>
                <a:latin typeface="Poppins" pitchFamily="34" charset="0"/>
                <a:ea typeface="Poppins" pitchFamily="34" charset="-122"/>
                <a:cs typeface="Poppins" pitchFamily="34" charset="-120"/>
              </a:rPr>
              <a:t>1</a:t>
            </a:r>
            <a:r>
              <a:rPr lang="en-US" sz="2800" b="1" dirty="0">
                <a:solidFill>
                  <a:srgbClr val="238B3F"/>
                </a:solidFill>
                <a:latin typeface="Poppins" pitchFamily="34" charset="0"/>
                <a:ea typeface="Poppins" pitchFamily="34" charset="-122"/>
                <a:cs typeface="Poppins" pitchFamily="34" charset="-120"/>
              </a:rPr>
              <a:t>.8 </a:t>
            </a:r>
            <a:r>
              <a:rPr lang="en-US" sz="2800" b="1" dirty="0" err="1">
                <a:solidFill>
                  <a:srgbClr val="238B3F"/>
                </a:solidFill>
                <a:latin typeface="Poppins" pitchFamily="34" charset="0"/>
                <a:ea typeface="Poppins" pitchFamily="34" charset="-122"/>
                <a:cs typeface="Poppins" pitchFamily="34" charset="-120"/>
              </a:rPr>
              <a:t>milyard</a:t>
            </a:r>
            <a:r>
              <a:rPr lang="en-US" sz="2800" b="1" dirty="0">
                <a:solidFill>
                  <a:srgbClr val="238B3F"/>
                </a:solidFill>
                <a:latin typeface="Poppins" pitchFamily="34" charset="0"/>
                <a:ea typeface="Poppins" pitchFamily="34" charset="-122"/>
                <a:cs typeface="Poppins" pitchFamily="34" charset="-120"/>
              </a:rPr>
              <a:t> </a:t>
            </a:r>
            <a:r>
              <a:rPr lang="az-Latn-AZ" sz="2800" b="1" dirty="0">
                <a:solidFill>
                  <a:srgbClr val="238B3F"/>
                </a:solidFill>
                <a:latin typeface="Poppins" pitchFamily="34" charset="0"/>
                <a:ea typeface="Poppins" pitchFamily="34" charset="-122"/>
                <a:cs typeface="Poppins" pitchFamily="34" charset="-120"/>
              </a:rPr>
              <a:t>$</a:t>
            </a:r>
            <a:endParaRPr lang="en-US" sz="2800" dirty="0"/>
          </a:p>
        </p:txBody>
      </p:sp>
      <p:sp>
        <p:nvSpPr>
          <p:cNvPr id="11" name="Text 9"/>
          <p:cNvSpPr txBox="1"/>
          <p:nvPr/>
        </p:nvSpPr>
        <p:spPr>
          <a:xfrm>
            <a:off x="7772400" y="3154680"/>
            <a:ext cx="3840480" cy="82296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Qlobal bazar (TAM)</a:t>
            </a:r>
            <a:endParaRPr lang="en-US" sz="1800" dirty="0"/>
          </a:p>
        </p:txBody>
      </p:sp>
      <p:sp>
        <p:nvSpPr>
          <p:cNvPr id="12" name="Legend dot"/>
          <p:cNvSpPr/>
          <p:nvPr/>
        </p:nvSpPr>
        <p:spPr>
          <a:xfrm>
            <a:off x="7223760" y="4407408"/>
            <a:ext cx="274320" cy="274320"/>
          </a:xfrm>
          <a:prstGeom prst="ellipse">
            <a:avLst/>
          </a:prstGeom>
          <a:solidFill>
            <a:srgbClr val="9BDD8A"/>
          </a:solidFill>
          <a:ln w="12700">
            <a:solidFill>
              <a:srgbClr val="238B3F"/>
            </a:solidFill>
            <a:prstDash val="solid"/>
          </a:ln>
        </p:spPr>
        <p:txBody>
          <a:bodyPr/>
          <a:lstStyle/>
          <a:p>
            <a:endParaRPr lang="tr-TR"/>
          </a:p>
        </p:txBody>
      </p:sp>
      <p:sp>
        <p:nvSpPr>
          <p:cNvPr id="13" name="Text 11"/>
          <p:cNvSpPr txBox="1"/>
          <p:nvPr/>
        </p:nvSpPr>
        <p:spPr>
          <a:xfrm>
            <a:off x="7772400" y="4297680"/>
            <a:ext cx="3840480" cy="640080"/>
          </a:xfrm>
          <a:prstGeom prst="rect">
            <a:avLst/>
          </a:prstGeom>
          <a:noFill/>
          <a:ln/>
        </p:spPr>
        <p:txBody>
          <a:bodyPr wrap="square" lIns="0" tIns="0" rIns="0" bIns="0" rtlCol="0" anchor="t"/>
          <a:lstStyle/>
          <a:p>
            <a:pPr marL="0" indent="0">
              <a:buNone/>
            </a:pPr>
            <a:r>
              <a:rPr lang="en-US" sz="2800" b="1" dirty="0">
                <a:solidFill>
                  <a:srgbClr val="238B3F"/>
                </a:solidFill>
                <a:latin typeface="Poppins" pitchFamily="34" charset="0"/>
                <a:ea typeface="Poppins" pitchFamily="34" charset="-122"/>
                <a:cs typeface="Poppins" pitchFamily="34" charset="-120"/>
              </a:rPr>
              <a:t>8</a:t>
            </a:r>
            <a:r>
              <a:rPr lang="az-Latn-AZ" sz="2800" b="1" dirty="0">
                <a:solidFill>
                  <a:srgbClr val="238B3F"/>
                </a:solidFill>
                <a:latin typeface="Poppins" pitchFamily="34" charset="0"/>
                <a:ea typeface="Poppins" pitchFamily="34" charset="-122"/>
                <a:cs typeface="Poppins" pitchFamily="34" charset="-120"/>
              </a:rPr>
              <a:t> milyon $</a:t>
            </a:r>
            <a:endParaRPr lang="en-US" sz="2800" dirty="0"/>
          </a:p>
        </p:txBody>
      </p:sp>
      <p:sp>
        <p:nvSpPr>
          <p:cNvPr id="14" name="Text 12"/>
          <p:cNvSpPr txBox="1"/>
          <p:nvPr/>
        </p:nvSpPr>
        <p:spPr>
          <a:xfrm>
            <a:off x="7772400" y="4983480"/>
            <a:ext cx="3840480" cy="82296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Türk dövlətləri bazarı (SAM)</a:t>
            </a:r>
            <a:endParaRPr lang="en-US" sz="1800" dirty="0"/>
          </a:p>
        </p:txBody>
      </p:sp>
      <p:sp>
        <p:nvSpPr>
          <p:cNvPr id="15" name="Legend dot"/>
          <p:cNvSpPr/>
          <p:nvPr/>
        </p:nvSpPr>
        <p:spPr>
          <a:xfrm>
            <a:off x="7223760" y="6236208"/>
            <a:ext cx="274320" cy="274320"/>
          </a:xfrm>
          <a:prstGeom prst="ellipse">
            <a:avLst/>
          </a:prstGeom>
          <a:solidFill>
            <a:srgbClr val="1A6B1A"/>
          </a:solidFill>
          <a:ln w="12700">
            <a:solidFill>
              <a:srgbClr val="238B3F"/>
            </a:solidFill>
            <a:prstDash val="solid"/>
          </a:ln>
        </p:spPr>
        <p:txBody>
          <a:bodyPr/>
          <a:lstStyle/>
          <a:p>
            <a:endParaRPr lang="tr-TR"/>
          </a:p>
        </p:txBody>
      </p:sp>
      <p:sp>
        <p:nvSpPr>
          <p:cNvPr id="16" name="Text 14"/>
          <p:cNvSpPr txBox="1"/>
          <p:nvPr/>
        </p:nvSpPr>
        <p:spPr>
          <a:xfrm>
            <a:off x="7772400" y="6126480"/>
            <a:ext cx="3840480" cy="640080"/>
          </a:xfrm>
          <a:prstGeom prst="rect">
            <a:avLst/>
          </a:prstGeom>
          <a:noFill/>
          <a:ln/>
        </p:spPr>
        <p:txBody>
          <a:bodyPr wrap="square" lIns="0" tIns="0" rIns="0" bIns="0" rtlCol="0" anchor="t"/>
          <a:lstStyle/>
          <a:p>
            <a:pPr marL="0" indent="0">
              <a:buNone/>
            </a:pPr>
            <a:r>
              <a:rPr lang="az-Latn-AZ" sz="2800" b="1" dirty="0">
                <a:solidFill>
                  <a:srgbClr val="238B3F"/>
                </a:solidFill>
                <a:latin typeface="Poppins" pitchFamily="34" charset="0"/>
                <a:ea typeface="Poppins" pitchFamily="34" charset="-122"/>
                <a:cs typeface="Poppins" pitchFamily="34" charset="-120"/>
              </a:rPr>
              <a:t>300 min $</a:t>
            </a:r>
            <a:endParaRPr lang="en-US" sz="2800" dirty="0"/>
          </a:p>
        </p:txBody>
      </p:sp>
      <p:sp>
        <p:nvSpPr>
          <p:cNvPr id="17" name="Text 15"/>
          <p:cNvSpPr txBox="1"/>
          <p:nvPr/>
        </p:nvSpPr>
        <p:spPr>
          <a:xfrm>
            <a:off x="7772400" y="6812280"/>
            <a:ext cx="3840480" cy="82296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Azərbaycanda 3 illik hədəfimiz (SOM)</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parkle"/>
          <p:cNvSpPr/>
          <p:nvPr/>
        </p:nvSpPr>
        <p:spPr>
          <a:xfrm rot="18300000">
            <a:off x="10881360" y="640080"/>
            <a:ext cx="292608" cy="384048"/>
          </a:xfrm>
          <a:prstGeom prst="triangle">
            <a:avLst/>
          </a:prstGeom>
          <a:solidFill>
            <a:srgbClr val="238B3F"/>
          </a:solidFill>
          <a:ln w="12700">
            <a:solidFill>
              <a:srgbClr val="238B3F"/>
            </a:solidFill>
            <a:prstDash val="solid"/>
          </a:ln>
        </p:spPr>
        <p:txBody>
          <a:bodyPr/>
          <a:lstStyle/>
          <a:p>
            <a:endParaRPr lang="tr-TR"/>
          </a:p>
        </p:txBody>
      </p:sp>
      <p:sp>
        <p:nvSpPr>
          <p:cNvPr id="3" name="Sparkle"/>
          <p:cNvSpPr/>
          <p:nvPr/>
        </p:nvSpPr>
        <p:spPr>
          <a:xfrm rot="14100000">
            <a:off x="10972800" y="1097280"/>
            <a:ext cx="292608" cy="384048"/>
          </a:xfrm>
          <a:prstGeom prst="triangle">
            <a:avLst/>
          </a:prstGeom>
          <a:solidFill>
            <a:srgbClr val="238B3F"/>
          </a:solidFill>
          <a:ln w="12700">
            <a:solidFill>
              <a:srgbClr val="238B3F"/>
            </a:solidFill>
            <a:prstDash val="solid"/>
          </a:ln>
        </p:spPr>
        <p:txBody>
          <a:bodyPr/>
          <a:lstStyle/>
          <a:p>
            <a:endParaRPr lang="tr-TR"/>
          </a:p>
        </p:txBody>
      </p:sp>
      <p:sp>
        <p:nvSpPr>
          <p:cNvPr id="4"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en-US" sz="3600" b="1" dirty="0">
                <a:solidFill>
                  <a:srgbClr val="111111"/>
                </a:solidFill>
                <a:latin typeface="Poppins" pitchFamily="34" charset="0"/>
                <a:cs typeface="Poppins" pitchFamily="34" charset="-120"/>
              </a:rPr>
              <a:t>İ</a:t>
            </a:r>
            <a:r>
              <a:rPr lang="tr-TR" sz="3600" b="1" dirty="0">
                <a:solidFill>
                  <a:srgbClr val="111111"/>
                </a:solidFill>
                <a:latin typeface="Poppins" pitchFamily="34" charset="0"/>
                <a:cs typeface="Poppins" pitchFamily="34" charset="-120"/>
              </a:rPr>
              <a:t>deya yox, </a:t>
            </a:r>
            <a:r>
              <a:rPr lang="tr-TR" sz="3600" b="1" dirty="0">
                <a:solidFill>
                  <a:srgbClr val="238B3F"/>
                </a:solidFill>
                <a:latin typeface="Poppins" pitchFamily="34" charset="0"/>
                <a:cs typeface="Poppins" pitchFamily="34" charset="-120"/>
              </a:rPr>
              <a:t>işləyən həll</a:t>
            </a:r>
            <a:endParaRPr lang="en-US" sz="3600" b="1" dirty="0">
              <a:solidFill>
                <a:srgbClr val="238B3F"/>
              </a:solidFill>
              <a:latin typeface="Poppins" pitchFamily="34" charset="0"/>
              <a:cs typeface="Poppins" pitchFamily="34" charset="-120"/>
            </a:endParaRPr>
          </a:p>
        </p:txBody>
      </p:sp>
      <p:sp>
        <p:nvSpPr>
          <p:cNvPr id="5" name="Stat card"/>
          <p:cNvSpPr/>
          <p:nvPr/>
        </p:nvSpPr>
        <p:spPr>
          <a:xfrm>
            <a:off x="640080" y="2103120"/>
            <a:ext cx="7040880" cy="1691640"/>
          </a:xfrm>
          <a:prstGeom prst="roundRect">
            <a:avLst>
              <a:gd name="adj" fmla="val 10811"/>
            </a:avLst>
          </a:prstGeom>
          <a:solidFill>
            <a:srgbClr val="F0FBF1"/>
          </a:solidFill>
          <a:ln w="12700">
            <a:solidFill>
              <a:srgbClr val="D3EAD6"/>
            </a:solidFill>
            <a:prstDash val="solid"/>
          </a:ln>
        </p:spPr>
        <p:txBody>
          <a:bodyPr/>
          <a:lstStyle/>
          <a:p>
            <a:endParaRPr lang="tr-TR"/>
          </a:p>
        </p:txBody>
      </p:sp>
      <p:sp>
        <p:nvSpPr>
          <p:cNvPr id="6" name="Text 4"/>
          <p:cNvSpPr txBox="1"/>
          <p:nvPr/>
        </p:nvSpPr>
        <p:spPr>
          <a:xfrm>
            <a:off x="1005840" y="2103120"/>
            <a:ext cx="2743200" cy="1691640"/>
          </a:xfrm>
          <a:prstGeom prst="rect">
            <a:avLst/>
          </a:prstGeom>
          <a:noFill/>
          <a:ln/>
        </p:spPr>
        <p:txBody>
          <a:bodyPr wrap="square" lIns="0" tIns="0" rIns="0" bIns="0" rtlCol="0" anchor="ctr"/>
          <a:lstStyle/>
          <a:p>
            <a:pPr marL="0" indent="0">
              <a:buNone/>
            </a:pPr>
            <a:r>
              <a:rPr lang="en-US" sz="4800" b="1" dirty="0">
                <a:solidFill>
                  <a:srgbClr val="238B3F"/>
                </a:solidFill>
                <a:latin typeface="Poppins" pitchFamily="34" charset="0"/>
                <a:ea typeface="Poppins" pitchFamily="34" charset="-122"/>
                <a:cs typeface="Poppins" pitchFamily="34" charset="-120"/>
              </a:rPr>
              <a:t>100+</a:t>
            </a:r>
            <a:endParaRPr lang="en-US" sz="4800" dirty="0"/>
          </a:p>
        </p:txBody>
      </p:sp>
      <p:sp>
        <p:nvSpPr>
          <p:cNvPr id="7" name="Text 5"/>
          <p:cNvSpPr txBox="1"/>
          <p:nvPr/>
        </p:nvSpPr>
        <p:spPr>
          <a:xfrm>
            <a:off x="3749040" y="2103120"/>
            <a:ext cx="3657600" cy="1691640"/>
          </a:xfrm>
          <a:prstGeom prst="rect">
            <a:avLst/>
          </a:prstGeom>
          <a:noFill/>
          <a:ln/>
        </p:spPr>
        <p:txBody>
          <a:bodyPr wrap="square" lIns="0" tIns="0" rIns="0" bIns="0" rtlCol="0" anchor="ctr"/>
          <a:lstStyle/>
          <a:p>
            <a:pPr marL="0" indent="0">
              <a:buNone/>
            </a:pPr>
            <a:r>
              <a:rPr lang="az-Latn-AZ" sz="2200" dirty="0">
                <a:solidFill>
                  <a:srgbClr val="111111"/>
                </a:solidFill>
                <a:latin typeface="Poppins" pitchFamily="34" charset="0"/>
                <a:ea typeface="Poppins" pitchFamily="34" charset="-122"/>
                <a:cs typeface="Poppins" pitchFamily="34" charset="-120"/>
              </a:rPr>
              <a:t>vətəndaşla müsahibə aparılıb</a:t>
            </a:r>
            <a:endParaRPr lang="en-US" sz="2200" dirty="0"/>
          </a:p>
        </p:txBody>
      </p:sp>
      <p:sp>
        <p:nvSpPr>
          <p:cNvPr id="8" name="Stat card"/>
          <p:cNvSpPr/>
          <p:nvPr/>
        </p:nvSpPr>
        <p:spPr>
          <a:xfrm>
            <a:off x="640080" y="4069080"/>
            <a:ext cx="7040880" cy="1691640"/>
          </a:xfrm>
          <a:prstGeom prst="roundRect">
            <a:avLst>
              <a:gd name="adj" fmla="val 10811"/>
            </a:avLst>
          </a:prstGeom>
          <a:solidFill>
            <a:srgbClr val="F0FBF1"/>
          </a:solidFill>
          <a:ln w="12700">
            <a:solidFill>
              <a:srgbClr val="D3EAD6"/>
            </a:solidFill>
            <a:prstDash val="solid"/>
          </a:ln>
        </p:spPr>
        <p:txBody>
          <a:bodyPr/>
          <a:lstStyle/>
          <a:p>
            <a:endParaRPr lang="tr-TR"/>
          </a:p>
        </p:txBody>
      </p:sp>
      <p:sp>
        <p:nvSpPr>
          <p:cNvPr id="9" name="Text 7"/>
          <p:cNvSpPr txBox="1"/>
          <p:nvPr/>
        </p:nvSpPr>
        <p:spPr>
          <a:xfrm>
            <a:off x="1046747" y="4137660"/>
            <a:ext cx="757989" cy="1691640"/>
          </a:xfrm>
          <a:prstGeom prst="rect">
            <a:avLst/>
          </a:prstGeom>
          <a:noFill/>
          <a:ln/>
        </p:spPr>
        <p:txBody>
          <a:bodyPr wrap="square" lIns="0" tIns="0" rIns="0" bIns="0" rtlCol="0" anchor="ctr"/>
          <a:lstStyle/>
          <a:p>
            <a:pPr marL="0" indent="0">
              <a:buNone/>
            </a:pPr>
            <a:r>
              <a:rPr lang="en-US" sz="4800" b="1" dirty="0">
                <a:solidFill>
                  <a:srgbClr val="238B3F"/>
                </a:solidFill>
                <a:latin typeface="Poppins" pitchFamily="34" charset="0"/>
                <a:ea typeface="Poppins" pitchFamily="34" charset="-122"/>
                <a:cs typeface="Poppins" pitchFamily="34" charset="-120"/>
              </a:rPr>
              <a:t>20</a:t>
            </a:r>
            <a:endParaRPr lang="en-US" sz="4800" dirty="0"/>
          </a:p>
        </p:txBody>
      </p:sp>
      <p:sp>
        <p:nvSpPr>
          <p:cNvPr id="10" name="Text 8"/>
          <p:cNvSpPr txBox="1"/>
          <p:nvPr/>
        </p:nvSpPr>
        <p:spPr>
          <a:xfrm>
            <a:off x="3749040" y="4069080"/>
            <a:ext cx="3657600" cy="1691640"/>
          </a:xfrm>
          <a:prstGeom prst="rect">
            <a:avLst/>
          </a:prstGeom>
          <a:noFill/>
          <a:ln/>
        </p:spPr>
        <p:txBody>
          <a:bodyPr wrap="square" lIns="0" tIns="0" rIns="0" bIns="0" rtlCol="0" anchor="ctr"/>
          <a:lstStyle/>
          <a:p>
            <a:pPr marL="0" indent="0">
              <a:buNone/>
            </a:pPr>
            <a:r>
              <a:rPr lang="az-Latn-AZ" sz="2200" dirty="0">
                <a:solidFill>
                  <a:srgbClr val="111111"/>
                </a:solidFill>
                <a:latin typeface="Poppins" pitchFamily="34" charset="0"/>
                <a:ea typeface="Poppins" pitchFamily="34" charset="-122"/>
                <a:cs typeface="Poppins" pitchFamily="34" charset="-120"/>
              </a:rPr>
              <a:t>ilk istifadəçi işlək tətbiqi sınaqdan keçirib</a:t>
            </a:r>
            <a:endParaRPr lang="en-US" sz="2200" dirty="0"/>
          </a:p>
        </p:txBody>
      </p:sp>
      <p:pic>
        <p:nvPicPr>
          <p:cNvPr id="14" name="Target" descr="/home/claude/build/target.png"/>
          <p:cNvPicPr>
            <a:picLocks noChangeAspect="1"/>
          </p:cNvPicPr>
          <p:nvPr/>
        </p:nvPicPr>
        <p:blipFill>
          <a:blip r:embed="rId3"/>
          <a:stretch>
            <a:fillRect/>
          </a:stretch>
        </p:blipFill>
        <p:spPr>
          <a:xfrm>
            <a:off x="7955280" y="2213000"/>
            <a:ext cx="3749040" cy="3437638"/>
          </a:xfrm>
          <a:prstGeom prst="rect">
            <a:avLst/>
          </a:prstGeom>
        </p:spPr>
      </p:pic>
      <p:sp>
        <p:nvSpPr>
          <p:cNvPr id="15" name="Partner card"/>
          <p:cNvSpPr/>
          <p:nvPr/>
        </p:nvSpPr>
        <p:spPr>
          <a:xfrm>
            <a:off x="640080" y="6035040"/>
            <a:ext cx="7040880" cy="1691640"/>
          </a:xfrm>
          <a:prstGeom prst="roundRect">
            <a:avLst>
              <a:gd name="adj" fmla="val 10811"/>
            </a:avLst>
          </a:prstGeom>
          <a:solidFill>
            <a:srgbClr val="F0FBF1"/>
          </a:solidFill>
          <a:ln w="12700">
            <a:solidFill>
              <a:srgbClr val="D3EAD6"/>
            </a:solidFill>
            <a:prstDash val="solid"/>
          </a:ln>
        </p:spPr>
        <p:txBody>
          <a:bodyPr/>
          <a:lstStyle/>
          <a:p>
            <a:endParaRPr lang="az-Latn-AZ"/>
          </a:p>
        </p:txBody>
      </p:sp>
      <p:pic>
        <p:nvPicPr>
          <p:cNvPr id="16" name="Baku City Executive Power logo" descr="Bakı Şəhər İcra Hakimiyyətinin loqosu"/>
          <p:cNvPicPr>
            <a:picLocks noChangeAspect="1"/>
          </p:cNvPicPr>
          <p:nvPr/>
        </p:nvPicPr>
        <p:blipFill>
          <a:blip r:embed="rId4"/>
          <a:stretch>
            <a:fillRect/>
          </a:stretch>
        </p:blipFill>
        <p:spPr>
          <a:xfrm>
            <a:off x="1046748" y="6240780"/>
            <a:ext cx="944071" cy="1280160"/>
          </a:xfrm>
          <a:prstGeom prst="rect">
            <a:avLst/>
          </a:prstGeom>
        </p:spPr>
      </p:pic>
      <p:sp>
        <p:nvSpPr>
          <p:cNvPr id="17" name="Partner text"/>
          <p:cNvSpPr txBox="1"/>
          <p:nvPr/>
        </p:nvSpPr>
        <p:spPr>
          <a:xfrm>
            <a:off x="3749040" y="6035040"/>
            <a:ext cx="2302049" cy="1691640"/>
          </a:xfrm>
          <a:prstGeom prst="rect">
            <a:avLst/>
          </a:prstGeom>
          <a:noFill/>
          <a:ln/>
        </p:spPr>
        <p:txBody>
          <a:bodyPr wrap="square" lIns="0" tIns="0" rIns="0" bIns="0" rtlCol="0" anchor="ctr"/>
          <a:lstStyle/>
          <a:p>
            <a:pPr marL="0" indent="0">
              <a:spcAft>
                <a:spcPts val="400"/>
              </a:spcAft>
              <a:buNone/>
            </a:pPr>
            <a:r>
              <a:rPr lang="az-Latn-AZ" sz="1200" b="0" dirty="0">
                <a:solidFill>
                  <a:srgbClr val="238B3F"/>
                </a:solidFill>
                <a:latin typeface="Poppins" pitchFamily="34" charset="0"/>
                <a:ea typeface="Poppins" pitchFamily="34" charset="-122"/>
                <a:cs typeface="Poppins" pitchFamily="34" charset="-120"/>
              </a:rPr>
              <a:t>Əlaqə qurduğumuz qurum</a:t>
            </a:r>
          </a:p>
          <a:p>
            <a:pPr marL="0" indent="0">
              <a:buNone/>
            </a:pPr>
            <a:r>
              <a:rPr lang="az-Latn-AZ" sz="1600" b="1" dirty="0">
                <a:solidFill>
                  <a:srgbClr val="111111"/>
                </a:solidFill>
                <a:latin typeface="Poppins" pitchFamily="34" charset="0"/>
                <a:ea typeface="Poppins" pitchFamily="34" charset="-122"/>
                <a:cs typeface="Poppins" pitchFamily="34" charset="-120"/>
              </a:rPr>
              <a:t>Bakı Şəhər İcra Hakimiyyəti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Biznes </a:t>
            </a:r>
            <a:r>
              <a:rPr lang="az-Latn-AZ" sz="3600" b="1" dirty="0">
                <a:solidFill>
                  <a:srgbClr val="238B3F"/>
                </a:solidFill>
                <a:latin typeface="Poppins" pitchFamily="34" charset="0"/>
                <a:ea typeface="Poppins" pitchFamily="34" charset="-122"/>
                <a:cs typeface="Poppins" pitchFamily="34" charset="-120"/>
              </a:rPr>
              <a:t>modeli</a:t>
            </a:r>
            <a:endParaRPr lang="en-US" sz="3600" dirty="0"/>
          </a:p>
        </p:txBody>
      </p:sp>
      <p:sp>
        <p:nvSpPr>
          <p:cNvPr id="3" name="Model card"/>
          <p:cNvSpPr/>
          <p:nvPr/>
        </p:nvSpPr>
        <p:spPr>
          <a:xfrm>
            <a:off x="640080" y="2103120"/>
            <a:ext cx="3291840" cy="4754880"/>
          </a:xfrm>
          <a:prstGeom prst="roundRect">
            <a:avLst>
              <a:gd name="adj" fmla="val 5556"/>
            </a:avLst>
          </a:prstGeom>
          <a:solidFill>
            <a:srgbClr val="FBFEFB"/>
          </a:solidFill>
          <a:ln w="15875">
            <a:solidFill>
              <a:srgbClr val="D3EAD6"/>
            </a:solidFill>
            <a:prstDash val="solid"/>
          </a:ln>
        </p:spPr>
        <p:txBody>
          <a:bodyPr/>
          <a:lstStyle/>
          <a:p>
            <a:endParaRPr lang="tr-TR"/>
          </a:p>
        </p:txBody>
      </p:sp>
      <p:sp>
        <p:nvSpPr>
          <p:cNvPr id="4" name="Icon circle"/>
          <p:cNvSpPr/>
          <p:nvPr/>
        </p:nvSpPr>
        <p:spPr>
          <a:xfrm>
            <a:off x="1005840" y="246888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5" name="Icon" descr="preencoded.png"/>
          <p:cNvPicPr>
            <a:picLocks noChangeAspect="1"/>
          </p:cNvPicPr>
          <p:nvPr/>
        </p:nvPicPr>
        <p:blipFill>
          <a:blip r:embed="rId3"/>
          <a:stretch>
            <a:fillRect/>
          </a:stretch>
        </p:blipFill>
        <p:spPr>
          <a:xfrm>
            <a:off x="1252728" y="2715768"/>
            <a:ext cx="420624" cy="420624"/>
          </a:xfrm>
          <a:prstGeom prst="rect">
            <a:avLst/>
          </a:prstGeom>
        </p:spPr>
      </p:pic>
      <p:sp>
        <p:nvSpPr>
          <p:cNvPr id="6" name="Text 3"/>
          <p:cNvSpPr txBox="1"/>
          <p:nvPr/>
        </p:nvSpPr>
        <p:spPr>
          <a:xfrm>
            <a:off x="1005840" y="3611880"/>
            <a:ext cx="2560320" cy="548640"/>
          </a:xfrm>
          <a:prstGeom prst="rect">
            <a:avLst/>
          </a:prstGeom>
          <a:noFill/>
          <a:ln/>
        </p:spPr>
        <p:txBody>
          <a:bodyPr wrap="square" lIns="0" tIns="0" rIns="0" bIns="0" rtlCol="0" anchor="t"/>
          <a:lstStyle/>
          <a:p>
            <a:pPr marL="0" indent="0">
              <a:buNone/>
            </a:pPr>
            <a:r>
              <a:rPr lang="az-Latn-AZ" sz="2600" b="1" dirty="0">
                <a:solidFill>
                  <a:srgbClr val="238B3F"/>
                </a:solidFill>
                <a:latin typeface="Poppins" pitchFamily="34" charset="0"/>
                <a:ea typeface="Poppins" pitchFamily="34" charset="-122"/>
                <a:cs typeface="Poppins" pitchFamily="34" charset="-120"/>
              </a:rPr>
              <a:t>Vətəndaşlar</a:t>
            </a:r>
            <a:endParaRPr lang="en-US" sz="2600" dirty="0"/>
          </a:p>
        </p:txBody>
      </p:sp>
      <p:sp>
        <p:nvSpPr>
          <p:cNvPr id="7" name="Text 4"/>
          <p:cNvSpPr txBox="1"/>
          <p:nvPr/>
        </p:nvSpPr>
        <p:spPr>
          <a:xfrm>
            <a:off x="1005840" y="4206240"/>
            <a:ext cx="2560320" cy="82296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Tətbiqdən istifadə</a:t>
            </a:r>
            <a:endParaRPr lang="en-US" sz="1800" dirty="0"/>
          </a:p>
        </p:txBody>
      </p:sp>
      <p:sp>
        <p:nvSpPr>
          <p:cNvPr id="8" name="Text 5"/>
          <p:cNvSpPr txBox="1"/>
          <p:nvPr/>
        </p:nvSpPr>
        <p:spPr>
          <a:xfrm>
            <a:off x="1005840" y="5212080"/>
            <a:ext cx="2560320" cy="82296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PULSUZ</a:t>
            </a:r>
            <a:endParaRPr lang="en-US" sz="3600" dirty="0"/>
          </a:p>
        </p:txBody>
      </p:sp>
      <p:sp>
        <p:nvSpPr>
          <p:cNvPr id="9" name="Text 6"/>
          <p:cNvSpPr txBox="1"/>
          <p:nvPr/>
        </p:nvSpPr>
        <p:spPr>
          <a:xfrm>
            <a:off x="1005840" y="6035040"/>
            <a:ext cx="2560320" cy="45720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tamamilə pulsuz</a:t>
            </a:r>
            <a:endParaRPr lang="en-US" sz="1800" dirty="0"/>
          </a:p>
        </p:txBody>
      </p:sp>
      <p:sp>
        <p:nvSpPr>
          <p:cNvPr id="10" name="Model card"/>
          <p:cNvSpPr/>
          <p:nvPr/>
        </p:nvSpPr>
        <p:spPr>
          <a:xfrm>
            <a:off x="4297680" y="2103120"/>
            <a:ext cx="3291840" cy="4754880"/>
          </a:xfrm>
          <a:prstGeom prst="roundRect">
            <a:avLst>
              <a:gd name="adj" fmla="val 5556"/>
            </a:avLst>
          </a:prstGeom>
          <a:solidFill>
            <a:srgbClr val="FBFEFB"/>
          </a:solidFill>
          <a:ln w="15875">
            <a:solidFill>
              <a:srgbClr val="238B3F"/>
            </a:solidFill>
            <a:prstDash val="solid"/>
          </a:ln>
        </p:spPr>
        <p:txBody>
          <a:bodyPr/>
          <a:lstStyle/>
          <a:p>
            <a:endParaRPr lang="tr-TR"/>
          </a:p>
        </p:txBody>
      </p:sp>
      <p:sp>
        <p:nvSpPr>
          <p:cNvPr id="11" name="Icon circle"/>
          <p:cNvSpPr/>
          <p:nvPr/>
        </p:nvSpPr>
        <p:spPr>
          <a:xfrm>
            <a:off x="4663440" y="246888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2" name="Icon" descr="preencoded.png"/>
          <p:cNvPicPr>
            <a:picLocks noChangeAspect="1"/>
          </p:cNvPicPr>
          <p:nvPr/>
        </p:nvPicPr>
        <p:blipFill>
          <a:blip r:embed="rId4"/>
          <a:stretch>
            <a:fillRect/>
          </a:stretch>
        </p:blipFill>
        <p:spPr>
          <a:xfrm>
            <a:off x="4910328" y="2715768"/>
            <a:ext cx="420624" cy="420624"/>
          </a:xfrm>
          <a:prstGeom prst="rect">
            <a:avLst/>
          </a:prstGeom>
        </p:spPr>
      </p:pic>
      <p:sp>
        <p:nvSpPr>
          <p:cNvPr id="13" name="Text 9"/>
          <p:cNvSpPr txBox="1"/>
          <p:nvPr/>
        </p:nvSpPr>
        <p:spPr>
          <a:xfrm>
            <a:off x="4663440" y="3611880"/>
            <a:ext cx="2560320" cy="548640"/>
          </a:xfrm>
          <a:prstGeom prst="rect">
            <a:avLst/>
          </a:prstGeom>
          <a:noFill/>
          <a:ln/>
        </p:spPr>
        <p:txBody>
          <a:bodyPr wrap="square" lIns="0" tIns="0" rIns="0" bIns="0" rtlCol="0" anchor="t"/>
          <a:lstStyle/>
          <a:p>
            <a:pPr marL="0" indent="0">
              <a:buNone/>
            </a:pPr>
            <a:r>
              <a:rPr lang="en-US" sz="2600" b="1" dirty="0">
                <a:solidFill>
                  <a:srgbClr val="238B3F"/>
                </a:solidFill>
                <a:latin typeface="Poppins" pitchFamily="34" charset="0"/>
                <a:ea typeface="Poppins" pitchFamily="34" charset="-122"/>
                <a:cs typeface="Poppins" pitchFamily="34" charset="-120"/>
              </a:rPr>
              <a:t>B2B</a:t>
            </a:r>
            <a:endParaRPr lang="en-US" sz="2600" dirty="0"/>
          </a:p>
        </p:txBody>
      </p:sp>
      <p:sp>
        <p:nvSpPr>
          <p:cNvPr id="14" name="Text 10"/>
          <p:cNvSpPr txBox="1"/>
          <p:nvPr/>
        </p:nvSpPr>
        <p:spPr>
          <a:xfrm>
            <a:off x="4663440" y="4206240"/>
            <a:ext cx="2560320" cy="82296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Özəl xidmət və kommunal şirkətlər üçün</a:t>
            </a:r>
            <a:endParaRPr lang="en-US" sz="1800" dirty="0"/>
          </a:p>
        </p:txBody>
      </p:sp>
      <p:sp>
        <p:nvSpPr>
          <p:cNvPr id="15" name="Text 11"/>
          <p:cNvSpPr txBox="1"/>
          <p:nvPr/>
        </p:nvSpPr>
        <p:spPr>
          <a:xfrm>
            <a:off x="4663440" y="5212080"/>
            <a:ext cx="2560320" cy="822960"/>
          </a:xfrm>
          <a:prstGeom prst="rect">
            <a:avLst/>
          </a:prstGeom>
          <a:noFill/>
          <a:ln/>
        </p:spPr>
        <p:txBody>
          <a:bodyPr wrap="square" lIns="0" tIns="0" rIns="0" bIns="0" rtlCol="0" anchor="ctr"/>
          <a:lstStyle/>
          <a:p>
            <a:pPr marL="0" indent="0">
              <a:buNone/>
            </a:pPr>
            <a:r>
              <a:rPr lang="en-US" sz="3600" b="1" dirty="0">
                <a:solidFill>
                  <a:srgbClr val="111111"/>
                </a:solidFill>
                <a:latin typeface="Poppins" pitchFamily="34" charset="0"/>
                <a:ea typeface="Poppins" pitchFamily="34" charset="-122"/>
                <a:cs typeface="Poppins" pitchFamily="34" charset="-120"/>
              </a:rPr>
              <a:t>300 AZN</a:t>
            </a:r>
            <a:endParaRPr lang="en-US" sz="3600" dirty="0"/>
          </a:p>
        </p:txBody>
      </p:sp>
      <p:sp>
        <p:nvSpPr>
          <p:cNvPr id="16" name="Text 12"/>
          <p:cNvSpPr txBox="1"/>
          <p:nvPr/>
        </p:nvSpPr>
        <p:spPr>
          <a:xfrm>
            <a:off x="4663440" y="6035040"/>
            <a:ext cx="2560320" cy="45720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aylıq, başlanğıc qiymət</a:t>
            </a:r>
            <a:endParaRPr lang="en-US" sz="1800" dirty="0"/>
          </a:p>
        </p:txBody>
      </p:sp>
      <p:sp>
        <p:nvSpPr>
          <p:cNvPr id="17" name="Model card"/>
          <p:cNvSpPr/>
          <p:nvPr/>
        </p:nvSpPr>
        <p:spPr>
          <a:xfrm>
            <a:off x="7955280" y="2103120"/>
            <a:ext cx="3291840" cy="4754880"/>
          </a:xfrm>
          <a:prstGeom prst="roundRect">
            <a:avLst>
              <a:gd name="adj" fmla="val 5556"/>
            </a:avLst>
          </a:prstGeom>
          <a:solidFill>
            <a:srgbClr val="FBFEFB"/>
          </a:solidFill>
          <a:ln w="15875">
            <a:solidFill>
              <a:srgbClr val="238B3F"/>
            </a:solidFill>
            <a:prstDash val="solid"/>
          </a:ln>
        </p:spPr>
        <p:txBody>
          <a:bodyPr/>
          <a:lstStyle/>
          <a:p>
            <a:endParaRPr lang="tr-TR"/>
          </a:p>
        </p:txBody>
      </p:sp>
      <p:sp>
        <p:nvSpPr>
          <p:cNvPr id="18" name="Icon circle"/>
          <p:cNvSpPr/>
          <p:nvPr/>
        </p:nvSpPr>
        <p:spPr>
          <a:xfrm>
            <a:off x="8321040" y="2468880"/>
            <a:ext cx="914400" cy="914400"/>
          </a:xfrm>
          <a:prstGeom prst="ellipse">
            <a:avLst/>
          </a:prstGeom>
          <a:solidFill>
            <a:srgbClr val="F0FBF1"/>
          </a:solidFill>
          <a:ln w="12700">
            <a:solidFill>
              <a:srgbClr val="F0FBF1"/>
            </a:solidFill>
            <a:prstDash val="solid"/>
          </a:ln>
        </p:spPr>
        <p:txBody>
          <a:bodyPr/>
          <a:lstStyle/>
          <a:p>
            <a:endParaRPr lang="tr-TR"/>
          </a:p>
        </p:txBody>
      </p:sp>
      <p:pic>
        <p:nvPicPr>
          <p:cNvPr id="19" name="Icon" descr="preencoded.png"/>
          <p:cNvPicPr>
            <a:picLocks noChangeAspect="1"/>
          </p:cNvPicPr>
          <p:nvPr/>
        </p:nvPicPr>
        <p:blipFill>
          <a:blip r:embed="rId5"/>
          <a:stretch>
            <a:fillRect/>
          </a:stretch>
        </p:blipFill>
        <p:spPr>
          <a:xfrm>
            <a:off x="8567928" y="2715768"/>
            <a:ext cx="420624" cy="420624"/>
          </a:xfrm>
          <a:prstGeom prst="rect">
            <a:avLst/>
          </a:prstGeom>
        </p:spPr>
      </p:pic>
      <p:sp>
        <p:nvSpPr>
          <p:cNvPr id="20" name="Text 15"/>
          <p:cNvSpPr txBox="1"/>
          <p:nvPr/>
        </p:nvSpPr>
        <p:spPr>
          <a:xfrm>
            <a:off x="8321040" y="3611880"/>
            <a:ext cx="2560320" cy="548640"/>
          </a:xfrm>
          <a:prstGeom prst="rect">
            <a:avLst/>
          </a:prstGeom>
          <a:noFill/>
          <a:ln/>
        </p:spPr>
        <p:txBody>
          <a:bodyPr wrap="square" lIns="0" tIns="0" rIns="0" bIns="0" rtlCol="0" anchor="t"/>
          <a:lstStyle/>
          <a:p>
            <a:pPr marL="0" indent="0">
              <a:buNone/>
            </a:pPr>
            <a:r>
              <a:rPr lang="en-US" sz="2600" b="1" dirty="0">
                <a:solidFill>
                  <a:srgbClr val="238B3F"/>
                </a:solidFill>
                <a:latin typeface="Poppins" pitchFamily="34" charset="0"/>
                <a:ea typeface="Poppins" pitchFamily="34" charset="-122"/>
                <a:cs typeface="Poppins" pitchFamily="34" charset="-120"/>
              </a:rPr>
              <a:t>B2G</a:t>
            </a:r>
            <a:endParaRPr lang="en-US" sz="2600" dirty="0"/>
          </a:p>
        </p:txBody>
      </p:sp>
      <p:sp>
        <p:nvSpPr>
          <p:cNvPr id="21" name="Text 16"/>
          <p:cNvSpPr txBox="1"/>
          <p:nvPr/>
        </p:nvSpPr>
        <p:spPr>
          <a:xfrm>
            <a:off x="8321040" y="4206240"/>
            <a:ext cx="2560320" cy="82296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Dövlət qurumları üçün</a:t>
            </a:r>
            <a:endParaRPr lang="en-US" sz="1800" dirty="0"/>
          </a:p>
        </p:txBody>
      </p:sp>
      <p:sp>
        <p:nvSpPr>
          <p:cNvPr id="22" name="Text 17"/>
          <p:cNvSpPr txBox="1"/>
          <p:nvPr/>
        </p:nvSpPr>
        <p:spPr>
          <a:xfrm>
            <a:off x="8321040" y="5212080"/>
            <a:ext cx="2560320" cy="822960"/>
          </a:xfrm>
          <a:prstGeom prst="rect">
            <a:avLst/>
          </a:prstGeom>
          <a:noFill/>
          <a:ln/>
        </p:spPr>
        <p:txBody>
          <a:bodyPr wrap="square" lIns="0" tIns="0" rIns="0" bIns="0" rtlCol="0" anchor="ctr"/>
          <a:lstStyle/>
          <a:p>
            <a:pPr marL="0" indent="0">
              <a:buNone/>
            </a:pPr>
            <a:r>
              <a:rPr lang="en-US" sz="3600" b="1" dirty="0">
                <a:solidFill>
                  <a:srgbClr val="111111"/>
                </a:solidFill>
                <a:latin typeface="Poppins" pitchFamily="34" charset="0"/>
                <a:ea typeface="Poppins" pitchFamily="34" charset="-122"/>
                <a:cs typeface="Poppins" pitchFamily="34" charset="-120"/>
              </a:rPr>
              <a:t>450 AZN</a:t>
            </a:r>
            <a:endParaRPr lang="en-US" sz="3600" dirty="0"/>
          </a:p>
        </p:txBody>
      </p:sp>
      <p:sp>
        <p:nvSpPr>
          <p:cNvPr id="23" name="Text 18"/>
          <p:cNvSpPr txBox="1"/>
          <p:nvPr/>
        </p:nvSpPr>
        <p:spPr>
          <a:xfrm>
            <a:off x="8321040" y="6035040"/>
            <a:ext cx="2560320" cy="45720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aylıq, başlanğıc qiymət</a:t>
            </a:r>
            <a:endParaRPr lang="en-US" sz="1800" dirty="0"/>
          </a:p>
        </p:txBody>
      </p:sp>
      <p:sp>
        <p:nvSpPr>
          <p:cNvPr id="24" name="Text 19"/>
          <p:cNvSpPr txBox="1"/>
          <p:nvPr/>
        </p:nvSpPr>
        <p:spPr>
          <a:xfrm>
            <a:off x="640080" y="7269480"/>
            <a:ext cx="10607040" cy="64008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Vətəndaşlar üçün pulsuzdur. Qurumlar pulsuz pilot mərhələdən sonra aylıq abunə haqqı ödəyir; qiymət region və bildiriş sayından asılıdır.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parkle"/>
          <p:cNvSpPr/>
          <p:nvPr/>
        </p:nvSpPr>
        <p:spPr>
          <a:xfrm rot="18300000">
            <a:off x="10881360" y="640080"/>
            <a:ext cx="292608" cy="384048"/>
          </a:xfrm>
          <a:prstGeom prst="triangle">
            <a:avLst/>
          </a:prstGeom>
          <a:solidFill>
            <a:srgbClr val="238B3F"/>
          </a:solidFill>
          <a:ln w="12700">
            <a:solidFill>
              <a:srgbClr val="238B3F"/>
            </a:solidFill>
            <a:prstDash val="solid"/>
          </a:ln>
        </p:spPr>
        <p:txBody>
          <a:bodyPr/>
          <a:lstStyle/>
          <a:p>
            <a:endParaRPr lang="tr-TR"/>
          </a:p>
        </p:txBody>
      </p:sp>
      <p:sp>
        <p:nvSpPr>
          <p:cNvPr id="3" name="Sparkle"/>
          <p:cNvSpPr/>
          <p:nvPr/>
        </p:nvSpPr>
        <p:spPr>
          <a:xfrm rot="14100000">
            <a:off x="10972800" y="1097280"/>
            <a:ext cx="292608" cy="384048"/>
          </a:xfrm>
          <a:prstGeom prst="triangle">
            <a:avLst/>
          </a:prstGeom>
          <a:solidFill>
            <a:srgbClr val="238B3F"/>
          </a:solidFill>
          <a:ln w="12700">
            <a:solidFill>
              <a:srgbClr val="238B3F"/>
            </a:solidFill>
            <a:prstDash val="solid"/>
          </a:ln>
        </p:spPr>
        <p:txBody>
          <a:bodyPr/>
          <a:lstStyle/>
          <a:p>
            <a:endParaRPr lang="tr-TR"/>
          </a:p>
        </p:txBody>
      </p:sp>
      <p:sp>
        <p:nvSpPr>
          <p:cNvPr id="4"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Bizi </a:t>
            </a:r>
            <a:r>
              <a:rPr lang="az-Latn-AZ" sz="3600" b="1" dirty="0">
                <a:solidFill>
                  <a:srgbClr val="238B3F"/>
                </a:solidFill>
                <a:latin typeface="Poppins" pitchFamily="34" charset="0"/>
                <a:ea typeface="Poppins" pitchFamily="34" charset="-122"/>
                <a:cs typeface="Poppins" pitchFamily="34" charset="-120"/>
              </a:rPr>
              <a:t>fərqləndirən</a:t>
            </a:r>
            <a:r>
              <a:rPr lang="az-Latn-AZ" sz="3600" b="1" dirty="0">
                <a:solidFill>
                  <a:srgbClr val="111111"/>
                </a:solidFill>
                <a:latin typeface="Poppins" pitchFamily="34" charset="0"/>
                <a:ea typeface="Poppins" pitchFamily="34" charset="-122"/>
                <a:cs typeface="Poppins" pitchFamily="34" charset="-120"/>
              </a:rPr>
              <a:t> nədir?</a:t>
            </a:r>
            <a:endParaRPr lang="en-US" sz="3600" dirty="0"/>
          </a:p>
        </p:txBody>
      </p:sp>
      <p:sp>
        <p:nvSpPr>
          <p:cNvPr id="5" name="SmartLine column"/>
          <p:cNvSpPr/>
          <p:nvPr/>
        </p:nvSpPr>
        <p:spPr>
          <a:xfrm>
            <a:off x="3840080" y="2103120"/>
            <a:ext cx="1851760" cy="5120640"/>
          </a:xfrm>
          <a:prstGeom prst="rect">
            <a:avLst/>
          </a:prstGeom>
          <a:solidFill>
            <a:srgbClr val="F0FBF1"/>
          </a:solidFill>
          <a:ln w="12700">
            <a:solidFill>
              <a:srgbClr val="F0FBF1"/>
            </a:solidFill>
            <a:prstDash val="solid"/>
          </a:ln>
        </p:spPr>
        <p:txBody>
          <a:bodyPr/>
          <a:lstStyle/>
          <a:p>
            <a:endParaRPr lang="tr-TR"/>
          </a:p>
        </p:txBody>
      </p:sp>
      <p:sp>
        <p:nvSpPr>
          <p:cNvPr id="6" name="Text 4"/>
          <p:cNvSpPr txBox="1"/>
          <p:nvPr/>
        </p:nvSpPr>
        <p:spPr>
          <a:xfrm>
            <a:off x="3840080" y="2103120"/>
            <a:ext cx="1851760" cy="914400"/>
          </a:xfrm>
          <a:prstGeom prst="rect">
            <a:avLst/>
          </a:prstGeom>
          <a:noFill/>
          <a:ln/>
        </p:spPr>
        <p:txBody>
          <a:bodyPr wrap="square" lIns="0" tIns="0" rIns="0" bIns="0" rtlCol="0" anchor="ctr"/>
          <a:lstStyle/>
          <a:p>
            <a:pPr marL="0" indent="0" algn="ctr">
              <a:buNone/>
            </a:pPr>
            <a:r>
              <a:rPr lang="en-US" sz="1800" b="1" dirty="0">
                <a:solidFill>
                  <a:srgbClr val="238B3F"/>
                </a:solidFill>
                <a:latin typeface="Poppins" pitchFamily="34" charset="0"/>
                <a:ea typeface="Poppins" pitchFamily="34" charset="-122"/>
                <a:cs typeface="Poppins" pitchFamily="34" charset="-120"/>
              </a:rPr>
              <a:t>SmartLine</a:t>
            </a:r>
            <a:endParaRPr lang="en-US" sz="1800" dirty="0"/>
          </a:p>
        </p:txBody>
      </p:sp>
      <p:sp>
        <p:nvSpPr>
          <p:cNvPr id="7" name="Text 5"/>
          <p:cNvSpPr txBox="1"/>
          <p:nvPr/>
        </p:nvSpPr>
        <p:spPr>
          <a:xfrm>
            <a:off x="7543600" y="2103120"/>
            <a:ext cx="1851760" cy="914400"/>
          </a:xfrm>
          <a:prstGeom prst="rect">
            <a:avLst/>
          </a:prstGeom>
          <a:noFill/>
          <a:ln/>
        </p:spPr>
        <p:txBody>
          <a:bodyPr wrap="square" lIns="0" tIns="0" rIns="0" bIns="0" rtlCol="0" anchor="ctr"/>
          <a:lstStyle/>
          <a:p>
            <a:pPr marL="0" indent="0" algn="ctr">
              <a:buNone/>
            </a:pPr>
            <a:r>
              <a:rPr lang="az-Latn-AZ" sz="1800" b="1" dirty="0">
                <a:solidFill>
                  <a:srgbClr val="111111"/>
                </a:solidFill>
                <a:latin typeface="Poppins" pitchFamily="34" charset="0"/>
                <a:ea typeface="Poppins" pitchFamily="34" charset="-122"/>
                <a:cs typeface="Poppins" pitchFamily="34" charset="-120"/>
              </a:rPr>
              <a:t>Çağrı mərkəzləri</a:t>
            </a:r>
            <a:endParaRPr lang="en-US" sz="1800" dirty="0"/>
          </a:p>
        </p:txBody>
      </p:sp>
      <p:sp>
        <p:nvSpPr>
          <p:cNvPr id="33" name="Text ASAN"/>
          <p:cNvSpPr txBox="1"/>
          <p:nvPr/>
        </p:nvSpPr>
        <p:spPr>
          <a:xfrm>
            <a:off x="5691840" y="2103120"/>
            <a:ext cx="1851760" cy="914400"/>
          </a:xfrm>
          <a:prstGeom prst="rect">
            <a:avLst/>
          </a:prstGeom>
          <a:noFill/>
          <a:ln/>
        </p:spPr>
        <p:txBody>
          <a:bodyPr wrap="square" lIns="0" tIns="0" rIns="0" bIns="0" rtlCol="0" anchor="ctr"/>
          <a:lstStyle/>
          <a:p>
            <a:pPr marL="0" indent="0" algn="ctr">
              <a:buNone/>
            </a:pPr>
            <a:r>
              <a:rPr lang="en-US" sz="1800" b="1" dirty="0">
                <a:solidFill>
                  <a:srgbClr val="111111"/>
                </a:solidFill>
                <a:latin typeface="Poppins" pitchFamily="34" charset="0"/>
                <a:ea typeface="Poppins" pitchFamily="34" charset="-122"/>
                <a:cs typeface="Poppins" pitchFamily="34" charset="-120"/>
              </a:rPr>
              <a:t>ASAN </a:t>
            </a:r>
            <a:r>
              <a:rPr lang="en-US" sz="1800" b="1" dirty="0" err="1">
                <a:solidFill>
                  <a:srgbClr val="111111"/>
                </a:solidFill>
                <a:latin typeface="Poppins" pitchFamily="34" charset="0"/>
                <a:ea typeface="Poppins" pitchFamily="34" charset="-122"/>
                <a:cs typeface="Poppins" pitchFamily="34" charset="-120"/>
              </a:rPr>
              <a:t>Müraciət</a:t>
            </a:r>
            <a:endParaRPr lang="en-US" sz="1800" dirty="0"/>
          </a:p>
        </p:txBody>
      </p:sp>
      <p:sp>
        <p:nvSpPr>
          <p:cNvPr id="8" name="Text 6"/>
          <p:cNvSpPr txBox="1"/>
          <p:nvPr/>
        </p:nvSpPr>
        <p:spPr>
          <a:xfrm>
            <a:off x="9395360" y="2103120"/>
            <a:ext cx="1851760" cy="914400"/>
          </a:xfrm>
          <a:prstGeom prst="rect">
            <a:avLst/>
          </a:prstGeom>
          <a:noFill/>
          <a:ln/>
        </p:spPr>
        <p:txBody>
          <a:bodyPr wrap="square" lIns="0" tIns="0" rIns="0" bIns="0" rtlCol="0" anchor="ctr"/>
          <a:lstStyle/>
          <a:p>
            <a:pPr marL="0" indent="0" algn="ctr">
              <a:buNone/>
            </a:pPr>
            <a:r>
              <a:rPr lang="az-Latn-AZ" sz="1800" b="1" dirty="0">
                <a:solidFill>
                  <a:srgbClr val="111111"/>
                </a:solidFill>
                <a:latin typeface="Poppins" pitchFamily="34" charset="0"/>
                <a:ea typeface="Poppins" pitchFamily="34" charset="-122"/>
                <a:cs typeface="Poppins" pitchFamily="34" charset="-120"/>
              </a:rPr>
              <a:t>Kağız ərizələr</a:t>
            </a:r>
            <a:endParaRPr lang="en-US" sz="1800" dirty="0"/>
          </a:p>
        </p:txBody>
      </p:sp>
      <p:sp>
        <p:nvSpPr>
          <p:cNvPr id="9" name="Shape 7"/>
          <p:cNvSpPr/>
          <p:nvPr/>
        </p:nvSpPr>
        <p:spPr>
          <a:xfrm>
            <a:off x="640080" y="3017520"/>
            <a:ext cx="10607040" cy="0"/>
          </a:xfrm>
          <a:prstGeom prst="line">
            <a:avLst/>
          </a:prstGeom>
          <a:noFill/>
          <a:ln w="15875">
            <a:solidFill>
              <a:srgbClr val="B0B8C4"/>
            </a:solidFill>
            <a:prstDash val="solid"/>
          </a:ln>
        </p:spPr>
        <p:txBody>
          <a:bodyPr/>
          <a:lstStyle/>
          <a:p>
            <a:endParaRPr lang="tr-TR"/>
          </a:p>
        </p:txBody>
      </p:sp>
      <p:sp>
        <p:nvSpPr>
          <p:cNvPr id="10" name="Text 8"/>
          <p:cNvSpPr txBox="1"/>
          <p:nvPr/>
        </p:nvSpPr>
        <p:spPr>
          <a:xfrm>
            <a:off x="640080" y="3017520"/>
            <a:ext cx="3200000" cy="1051560"/>
          </a:xfrm>
          <a:prstGeom prst="rect">
            <a:avLst/>
          </a:prstGeom>
          <a:noFill/>
          <a:ln/>
        </p:spPr>
        <p:txBody>
          <a:bodyPr wrap="square" lIns="0" tIns="0" rIns="0" bIns="0" rtlCol="0" anchor="ctr"/>
          <a:lstStyle/>
          <a:p>
            <a:pPr marL="0" indent="0">
              <a:buNone/>
            </a:pPr>
            <a:r>
              <a:rPr lang="az-Latn-AZ" sz="2000" dirty="0">
                <a:solidFill>
                  <a:srgbClr val="111111"/>
                </a:solidFill>
                <a:latin typeface="Poppins" pitchFamily="34" charset="0"/>
                <a:ea typeface="Poppins" pitchFamily="34" charset="-122"/>
                <a:cs typeface="Poppins" pitchFamily="34" charset="-120"/>
              </a:rPr>
              <a:t>Canlı xəritədə GPS məkanı</a:t>
            </a:r>
            <a:endParaRPr lang="en-US" sz="2000" dirty="0"/>
          </a:p>
        </p:txBody>
      </p:sp>
      <p:pic>
        <p:nvPicPr>
          <p:cNvPr id="11" name="Check" descr="preencoded.png"/>
          <p:cNvPicPr>
            <a:picLocks noChangeAspect="1"/>
          </p:cNvPicPr>
          <p:nvPr/>
        </p:nvPicPr>
        <p:blipFill>
          <a:blip r:embed="rId3"/>
          <a:stretch>
            <a:fillRect/>
          </a:stretch>
        </p:blipFill>
        <p:spPr>
          <a:xfrm>
            <a:off x="4537360" y="3314700"/>
            <a:ext cx="457200" cy="457200"/>
          </a:xfrm>
          <a:prstGeom prst="rect">
            <a:avLst/>
          </a:prstGeom>
        </p:spPr>
      </p:pic>
      <p:pic>
        <p:nvPicPr>
          <p:cNvPr id="12" name="Cross" descr="preencoded.png"/>
          <p:cNvPicPr>
            <a:picLocks noChangeAspect="1"/>
          </p:cNvPicPr>
          <p:nvPr/>
        </p:nvPicPr>
        <p:blipFill>
          <a:blip r:embed="rId4"/>
          <a:stretch>
            <a:fillRect/>
          </a:stretch>
        </p:blipFill>
        <p:spPr>
          <a:xfrm>
            <a:off x="8240880" y="3314700"/>
            <a:ext cx="457200" cy="457200"/>
          </a:xfrm>
          <a:prstGeom prst="rect">
            <a:avLst/>
          </a:prstGeom>
        </p:spPr>
      </p:pic>
      <p:pic>
        <p:nvPicPr>
          <p:cNvPr id="13" name="Cross" descr="preencoded.png"/>
          <p:cNvPicPr>
            <a:picLocks noChangeAspect="1"/>
          </p:cNvPicPr>
          <p:nvPr/>
        </p:nvPicPr>
        <p:blipFill>
          <a:blip r:embed="rId4"/>
          <a:stretch>
            <a:fillRect/>
          </a:stretch>
        </p:blipFill>
        <p:spPr>
          <a:xfrm>
            <a:off x="10092640" y="3314700"/>
            <a:ext cx="457200" cy="457200"/>
          </a:xfrm>
          <a:prstGeom prst="rect">
            <a:avLst/>
          </a:prstGeom>
        </p:spPr>
      </p:pic>
      <p:pic>
        <p:nvPicPr>
          <p:cNvPr id="35" name="Check" descr="preencoded.png"/>
          <p:cNvPicPr>
            <a:picLocks noChangeAspect="1"/>
          </p:cNvPicPr>
          <p:nvPr/>
        </p:nvPicPr>
        <p:blipFill>
          <a:blip r:embed="rId3"/>
          <a:stretch>
            <a:fillRect/>
          </a:stretch>
        </p:blipFill>
        <p:spPr>
          <a:xfrm>
            <a:off x="6389120" y="3314700"/>
            <a:ext cx="457200" cy="457200"/>
          </a:xfrm>
          <a:prstGeom prst="rect">
            <a:avLst/>
          </a:prstGeom>
        </p:spPr>
      </p:pic>
      <p:sp>
        <p:nvSpPr>
          <p:cNvPr id="14" name="Shape 9"/>
          <p:cNvSpPr/>
          <p:nvPr/>
        </p:nvSpPr>
        <p:spPr>
          <a:xfrm>
            <a:off x="640080" y="4069080"/>
            <a:ext cx="10607040" cy="0"/>
          </a:xfrm>
          <a:prstGeom prst="line">
            <a:avLst/>
          </a:prstGeom>
          <a:noFill/>
          <a:ln w="15875">
            <a:solidFill>
              <a:srgbClr val="B0B8C4"/>
            </a:solidFill>
            <a:prstDash val="solid"/>
          </a:ln>
        </p:spPr>
        <p:txBody>
          <a:bodyPr/>
          <a:lstStyle/>
          <a:p>
            <a:endParaRPr lang="tr-TR"/>
          </a:p>
        </p:txBody>
      </p:sp>
      <p:sp>
        <p:nvSpPr>
          <p:cNvPr id="15" name="Text 10"/>
          <p:cNvSpPr txBox="1"/>
          <p:nvPr/>
        </p:nvSpPr>
        <p:spPr>
          <a:xfrm>
            <a:off x="663241" y="4069079"/>
            <a:ext cx="3200000" cy="1051560"/>
          </a:xfrm>
          <a:prstGeom prst="rect">
            <a:avLst/>
          </a:prstGeom>
          <a:noFill/>
          <a:ln/>
        </p:spPr>
        <p:txBody>
          <a:bodyPr wrap="square" lIns="0" tIns="0" rIns="0" bIns="0" rtlCol="0" anchor="ctr"/>
          <a:lstStyle/>
          <a:p>
            <a:r>
              <a:rPr lang="en-US" sz="2000" dirty="0" err="1">
                <a:solidFill>
                  <a:srgbClr val="111111"/>
                </a:solidFill>
                <a:latin typeface="Poppins" pitchFamily="34" charset="0"/>
                <a:cs typeface="Poppins" pitchFamily="34" charset="-120"/>
              </a:rPr>
              <a:t>Süni</a:t>
            </a:r>
            <a:r>
              <a:rPr lang="en-US" sz="2000" dirty="0">
                <a:solidFill>
                  <a:srgbClr val="111111"/>
                </a:solidFill>
                <a:latin typeface="Poppins" pitchFamily="34" charset="0"/>
                <a:cs typeface="Poppins" pitchFamily="34" charset="-120"/>
              </a:rPr>
              <a:t> </a:t>
            </a:r>
            <a:r>
              <a:rPr lang="en-US" sz="2000" dirty="0" err="1">
                <a:solidFill>
                  <a:srgbClr val="111111"/>
                </a:solidFill>
                <a:latin typeface="Poppins" pitchFamily="34" charset="0"/>
                <a:cs typeface="Poppins" pitchFamily="34" charset="-120"/>
              </a:rPr>
              <a:t>intellekt</a:t>
            </a:r>
            <a:r>
              <a:rPr lang="en-US" sz="2000" dirty="0">
                <a:solidFill>
                  <a:srgbClr val="111111"/>
                </a:solidFill>
                <a:latin typeface="Poppins" pitchFamily="34" charset="0"/>
                <a:cs typeface="Poppins" pitchFamily="34" charset="-120"/>
              </a:rPr>
              <a:t> </a:t>
            </a:r>
            <a:r>
              <a:rPr lang="en-US" sz="2000" dirty="0" err="1">
                <a:solidFill>
                  <a:srgbClr val="111111"/>
                </a:solidFill>
                <a:latin typeface="Poppins" pitchFamily="34" charset="0"/>
                <a:cs typeface="Poppins" pitchFamily="34" charset="-120"/>
              </a:rPr>
              <a:t>təhlili</a:t>
            </a:r>
            <a:endParaRPr lang="en-US" sz="2000" dirty="0">
              <a:solidFill>
                <a:srgbClr val="111111"/>
              </a:solidFill>
              <a:latin typeface="Poppins" pitchFamily="34" charset="0"/>
              <a:cs typeface="Poppins" pitchFamily="34" charset="-120"/>
            </a:endParaRPr>
          </a:p>
        </p:txBody>
      </p:sp>
      <p:pic>
        <p:nvPicPr>
          <p:cNvPr id="16" name="Check" descr="preencoded.png"/>
          <p:cNvPicPr>
            <a:picLocks noChangeAspect="1"/>
          </p:cNvPicPr>
          <p:nvPr/>
        </p:nvPicPr>
        <p:blipFill>
          <a:blip r:embed="rId3"/>
          <a:stretch>
            <a:fillRect/>
          </a:stretch>
        </p:blipFill>
        <p:spPr>
          <a:xfrm>
            <a:off x="4537360" y="4366260"/>
            <a:ext cx="457200" cy="457200"/>
          </a:xfrm>
          <a:prstGeom prst="rect">
            <a:avLst/>
          </a:prstGeom>
        </p:spPr>
      </p:pic>
      <p:pic>
        <p:nvPicPr>
          <p:cNvPr id="17" name="Cross" descr="preencoded.png"/>
          <p:cNvPicPr>
            <a:picLocks noChangeAspect="1"/>
          </p:cNvPicPr>
          <p:nvPr/>
        </p:nvPicPr>
        <p:blipFill>
          <a:blip r:embed="rId4"/>
          <a:stretch>
            <a:fillRect/>
          </a:stretch>
        </p:blipFill>
        <p:spPr>
          <a:xfrm>
            <a:off x="8240880" y="4366260"/>
            <a:ext cx="457200" cy="457200"/>
          </a:xfrm>
          <a:prstGeom prst="rect">
            <a:avLst/>
          </a:prstGeom>
        </p:spPr>
      </p:pic>
      <p:pic>
        <p:nvPicPr>
          <p:cNvPr id="18" name="Cross" descr="preencoded.png"/>
          <p:cNvPicPr>
            <a:picLocks noChangeAspect="1"/>
          </p:cNvPicPr>
          <p:nvPr/>
        </p:nvPicPr>
        <p:blipFill>
          <a:blip r:embed="rId4"/>
          <a:stretch>
            <a:fillRect/>
          </a:stretch>
        </p:blipFill>
        <p:spPr>
          <a:xfrm>
            <a:off x="10092640" y="4366260"/>
            <a:ext cx="457200" cy="457200"/>
          </a:xfrm>
          <a:prstGeom prst="rect">
            <a:avLst/>
          </a:prstGeom>
        </p:spPr>
      </p:pic>
      <p:sp>
        <p:nvSpPr>
          <p:cNvPr id="19" name="Shape 11"/>
          <p:cNvSpPr/>
          <p:nvPr/>
        </p:nvSpPr>
        <p:spPr>
          <a:xfrm>
            <a:off x="640080" y="5120640"/>
            <a:ext cx="10607040" cy="0"/>
          </a:xfrm>
          <a:prstGeom prst="line">
            <a:avLst/>
          </a:prstGeom>
          <a:noFill/>
          <a:ln w="15875">
            <a:solidFill>
              <a:srgbClr val="B0B8C4"/>
            </a:solidFill>
            <a:prstDash val="solid"/>
          </a:ln>
        </p:spPr>
        <p:txBody>
          <a:bodyPr/>
          <a:lstStyle/>
          <a:p>
            <a:endParaRPr lang="tr-TR"/>
          </a:p>
        </p:txBody>
      </p:sp>
      <p:sp>
        <p:nvSpPr>
          <p:cNvPr id="20" name="Text 12"/>
          <p:cNvSpPr txBox="1"/>
          <p:nvPr/>
        </p:nvSpPr>
        <p:spPr>
          <a:xfrm>
            <a:off x="640080" y="5120640"/>
            <a:ext cx="3200000" cy="1051560"/>
          </a:xfrm>
          <a:prstGeom prst="rect">
            <a:avLst/>
          </a:prstGeom>
          <a:noFill/>
          <a:ln/>
        </p:spPr>
        <p:txBody>
          <a:bodyPr wrap="square" lIns="0" tIns="0" rIns="0" bIns="0" rtlCol="0" anchor="ctr"/>
          <a:lstStyle/>
          <a:p>
            <a:pPr marL="0" indent="0">
              <a:buNone/>
            </a:pPr>
            <a:r>
              <a:rPr lang="az-Latn-AZ" sz="2000" dirty="0">
                <a:solidFill>
                  <a:srgbClr val="111111"/>
                </a:solidFill>
                <a:latin typeface="Poppins" pitchFamily="34" charset="0"/>
                <a:ea typeface="Poppins" pitchFamily="34" charset="-122"/>
                <a:cs typeface="Poppins" pitchFamily="34" charset="-120"/>
              </a:rPr>
              <a:t>Özəl və dövlət qurumları</a:t>
            </a:r>
            <a:endParaRPr lang="en-US" sz="2000" dirty="0"/>
          </a:p>
        </p:txBody>
      </p:sp>
      <p:pic>
        <p:nvPicPr>
          <p:cNvPr id="21" name="Check" descr="preencoded.png"/>
          <p:cNvPicPr>
            <a:picLocks noChangeAspect="1"/>
          </p:cNvPicPr>
          <p:nvPr/>
        </p:nvPicPr>
        <p:blipFill>
          <a:blip r:embed="rId3"/>
          <a:stretch>
            <a:fillRect/>
          </a:stretch>
        </p:blipFill>
        <p:spPr>
          <a:xfrm>
            <a:off x="4537360" y="5417820"/>
            <a:ext cx="457200" cy="457200"/>
          </a:xfrm>
          <a:prstGeom prst="rect">
            <a:avLst/>
          </a:prstGeom>
        </p:spPr>
      </p:pic>
      <p:pic>
        <p:nvPicPr>
          <p:cNvPr id="22" name="Cross" descr="preencoded.png"/>
          <p:cNvPicPr>
            <a:picLocks noChangeAspect="1"/>
          </p:cNvPicPr>
          <p:nvPr/>
        </p:nvPicPr>
        <p:blipFill>
          <a:blip r:embed="rId4"/>
          <a:stretch>
            <a:fillRect/>
          </a:stretch>
        </p:blipFill>
        <p:spPr>
          <a:xfrm>
            <a:off x="8240880" y="5417820"/>
            <a:ext cx="457200" cy="457200"/>
          </a:xfrm>
          <a:prstGeom prst="rect">
            <a:avLst/>
          </a:prstGeom>
        </p:spPr>
      </p:pic>
      <p:pic>
        <p:nvPicPr>
          <p:cNvPr id="23" name="Cross" descr="preencoded.png"/>
          <p:cNvPicPr>
            <a:picLocks noChangeAspect="1"/>
          </p:cNvPicPr>
          <p:nvPr/>
        </p:nvPicPr>
        <p:blipFill>
          <a:blip r:embed="rId4"/>
          <a:stretch>
            <a:fillRect/>
          </a:stretch>
        </p:blipFill>
        <p:spPr>
          <a:xfrm>
            <a:off x="10092640" y="5417820"/>
            <a:ext cx="457200" cy="457200"/>
          </a:xfrm>
          <a:prstGeom prst="rect">
            <a:avLst/>
          </a:prstGeom>
        </p:spPr>
      </p:pic>
      <p:pic>
        <p:nvPicPr>
          <p:cNvPr id="37" name="Cross" descr="preencoded.png"/>
          <p:cNvPicPr>
            <a:picLocks noChangeAspect="1"/>
          </p:cNvPicPr>
          <p:nvPr/>
        </p:nvPicPr>
        <p:blipFill>
          <a:blip r:embed="rId4"/>
          <a:stretch>
            <a:fillRect/>
          </a:stretch>
        </p:blipFill>
        <p:spPr>
          <a:xfrm>
            <a:off x="6389120" y="5417820"/>
            <a:ext cx="457200" cy="457200"/>
          </a:xfrm>
          <a:prstGeom prst="rect">
            <a:avLst/>
          </a:prstGeom>
        </p:spPr>
      </p:pic>
      <p:sp>
        <p:nvSpPr>
          <p:cNvPr id="24" name="Shape 13"/>
          <p:cNvSpPr/>
          <p:nvPr/>
        </p:nvSpPr>
        <p:spPr>
          <a:xfrm>
            <a:off x="640080" y="6172200"/>
            <a:ext cx="10607040" cy="0"/>
          </a:xfrm>
          <a:prstGeom prst="line">
            <a:avLst/>
          </a:prstGeom>
          <a:noFill/>
          <a:ln w="15875">
            <a:solidFill>
              <a:srgbClr val="B0B8C4"/>
            </a:solidFill>
            <a:prstDash val="solid"/>
          </a:ln>
        </p:spPr>
        <p:txBody>
          <a:bodyPr/>
          <a:lstStyle/>
          <a:p>
            <a:endParaRPr lang="tr-TR"/>
          </a:p>
        </p:txBody>
      </p:sp>
      <p:sp>
        <p:nvSpPr>
          <p:cNvPr id="25" name="Text 14"/>
          <p:cNvSpPr txBox="1"/>
          <p:nvPr/>
        </p:nvSpPr>
        <p:spPr>
          <a:xfrm>
            <a:off x="640080" y="6172200"/>
            <a:ext cx="3200000" cy="1051560"/>
          </a:xfrm>
          <a:prstGeom prst="rect">
            <a:avLst/>
          </a:prstGeom>
          <a:noFill/>
          <a:ln/>
        </p:spPr>
        <p:txBody>
          <a:bodyPr wrap="square" lIns="0" tIns="0" rIns="0" bIns="0" rtlCol="0" anchor="ctr"/>
          <a:lstStyle/>
          <a:p>
            <a:pPr marL="0" indent="0">
              <a:buNone/>
            </a:pPr>
            <a:r>
              <a:rPr lang="az-Latn-AZ" sz="2000" dirty="0">
                <a:solidFill>
                  <a:srgbClr val="111111"/>
                </a:solidFill>
                <a:latin typeface="Poppins" pitchFamily="34" charset="0"/>
                <a:ea typeface="Poppins" pitchFamily="34" charset="-122"/>
                <a:cs typeface="Poppins" pitchFamily="34" charset="-120"/>
              </a:rPr>
              <a:t>Digər ölkələrə genişlənmək üçün qurulub</a:t>
            </a:r>
            <a:endParaRPr lang="en-US" sz="2000" dirty="0"/>
          </a:p>
        </p:txBody>
      </p:sp>
      <p:pic>
        <p:nvPicPr>
          <p:cNvPr id="26" name="Check" descr="preencoded.png"/>
          <p:cNvPicPr>
            <a:picLocks noChangeAspect="1"/>
          </p:cNvPicPr>
          <p:nvPr/>
        </p:nvPicPr>
        <p:blipFill>
          <a:blip r:embed="rId3"/>
          <a:stretch>
            <a:fillRect/>
          </a:stretch>
        </p:blipFill>
        <p:spPr>
          <a:xfrm>
            <a:off x="4537360" y="6469380"/>
            <a:ext cx="457200" cy="457200"/>
          </a:xfrm>
          <a:prstGeom prst="rect">
            <a:avLst/>
          </a:prstGeom>
        </p:spPr>
      </p:pic>
      <p:pic>
        <p:nvPicPr>
          <p:cNvPr id="27" name="Cross" descr="preencoded.png"/>
          <p:cNvPicPr>
            <a:picLocks noChangeAspect="1"/>
          </p:cNvPicPr>
          <p:nvPr/>
        </p:nvPicPr>
        <p:blipFill>
          <a:blip r:embed="rId4"/>
          <a:stretch>
            <a:fillRect/>
          </a:stretch>
        </p:blipFill>
        <p:spPr>
          <a:xfrm>
            <a:off x="8240880" y="6469380"/>
            <a:ext cx="457200" cy="457200"/>
          </a:xfrm>
          <a:prstGeom prst="rect">
            <a:avLst/>
          </a:prstGeom>
        </p:spPr>
      </p:pic>
      <p:pic>
        <p:nvPicPr>
          <p:cNvPr id="28" name="Cross" descr="preencoded.png"/>
          <p:cNvPicPr>
            <a:picLocks noChangeAspect="1"/>
          </p:cNvPicPr>
          <p:nvPr/>
        </p:nvPicPr>
        <p:blipFill>
          <a:blip r:embed="rId4"/>
          <a:stretch>
            <a:fillRect/>
          </a:stretch>
        </p:blipFill>
        <p:spPr>
          <a:xfrm>
            <a:off x="10092640" y="6469380"/>
            <a:ext cx="457200" cy="457200"/>
          </a:xfrm>
          <a:prstGeom prst="rect">
            <a:avLst/>
          </a:prstGeom>
        </p:spPr>
      </p:pic>
      <p:pic>
        <p:nvPicPr>
          <p:cNvPr id="38" name="Cross" descr="preencoded.png"/>
          <p:cNvPicPr>
            <a:picLocks noChangeAspect="1"/>
          </p:cNvPicPr>
          <p:nvPr/>
        </p:nvPicPr>
        <p:blipFill>
          <a:blip r:embed="rId4"/>
          <a:stretch>
            <a:fillRect/>
          </a:stretch>
        </p:blipFill>
        <p:spPr>
          <a:xfrm>
            <a:off x="6389120" y="6469380"/>
            <a:ext cx="457200" cy="457200"/>
          </a:xfrm>
          <a:prstGeom prst="rect">
            <a:avLst/>
          </a:prstGeom>
        </p:spPr>
      </p:pic>
      <p:sp>
        <p:nvSpPr>
          <p:cNvPr id="29" name="Shape 15"/>
          <p:cNvSpPr/>
          <p:nvPr/>
        </p:nvSpPr>
        <p:spPr>
          <a:xfrm>
            <a:off x="640080" y="7223760"/>
            <a:ext cx="10607040" cy="0"/>
          </a:xfrm>
          <a:prstGeom prst="line">
            <a:avLst/>
          </a:prstGeom>
          <a:noFill/>
          <a:ln w="15875">
            <a:solidFill>
              <a:srgbClr val="B0B8C4"/>
            </a:solidFill>
            <a:prstDash val="solid"/>
          </a:ln>
        </p:spPr>
        <p:txBody>
          <a:bodyPr/>
          <a:lstStyle/>
          <a:p>
            <a:endParaRPr lang="tr-TR"/>
          </a:p>
        </p:txBody>
      </p:sp>
      <p:sp>
        <p:nvSpPr>
          <p:cNvPr id="30" name="Shape 16"/>
          <p:cNvSpPr/>
          <p:nvPr/>
        </p:nvSpPr>
        <p:spPr>
          <a:xfrm>
            <a:off x="3840080" y="2103120"/>
            <a:ext cx="0" cy="5120640"/>
          </a:xfrm>
          <a:prstGeom prst="line">
            <a:avLst/>
          </a:prstGeom>
          <a:noFill/>
          <a:ln w="15875">
            <a:solidFill>
              <a:srgbClr val="B0B8C4"/>
            </a:solidFill>
            <a:prstDash val="solid"/>
          </a:ln>
        </p:spPr>
        <p:txBody>
          <a:bodyPr/>
          <a:lstStyle/>
          <a:p>
            <a:endParaRPr lang="tr-TR"/>
          </a:p>
        </p:txBody>
      </p:sp>
      <p:sp>
        <p:nvSpPr>
          <p:cNvPr id="31" name="Shape 17"/>
          <p:cNvSpPr/>
          <p:nvPr/>
        </p:nvSpPr>
        <p:spPr>
          <a:xfrm>
            <a:off x="7543600" y="2103120"/>
            <a:ext cx="0" cy="5120640"/>
          </a:xfrm>
          <a:prstGeom prst="line">
            <a:avLst/>
          </a:prstGeom>
          <a:noFill/>
          <a:ln w="15875">
            <a:solidFill>
              <a:srgbClr val="B0B8C4"/>
            </a:solidFill>
            <a:prstDash val="solid"/>
          </a:ln>
        </p:spPr>
        <p:txBody>
          <a:bodyPr/>
          <a:lstStyle/>
          <a:p>
            <a:endParaRPr lang="tr-TR"/>
          </a:p>
        </p:txBody>
      </p:sp>
      <p:sp>
        <p:nvSpPr>
          <p:cNvPr id="34" name="Shape 17"/>
          <p:cNvSpPr/>
          <p:nvPr/>
        </p:nvSpPr>
        <p:spPr>
          <a:xfrm>
            <a:off x="5691840" y="2103120"/>
            <a:ext cx="0" cy="5120640"/>
          </a:xfrm>
          <a:prstGeom prst="line">
            <a:avLst/>
          </a:prstGeom>
          <a:noFill/>
          <a:ln w="15875">
            <a:solidFill>
              <a:srgbClr val="B0B8C4"/>
            </a:solidFill>
            <a:prstDash val="solid"/>
          </a:ln>
        </p:spPr>
        <p:txBody>
          <a:bodyPr/>
          <a:lstStyle/>
          <a:p>
            <a:endParaRPr lang="tr-TR"/>
          </a:p>
        </p:txBody>
      </p:sp>
      <p:sp>
        <p:nvSpPr>
          <p:cNvPr id="32" name="Shape 18"/>
          <p:cNvSpPr/>
          <p:nvPr/>
        </p:nvSpPr>
        <p:spPr>
          <a:xfrm>
            <a:off x="9395360" y="2103120"/>
            <a:ext cx="0" cy="5120640"/>
          </a:xfrm>
          <a:prstGeom prst="line">
            <a:avLst/>
          </a:prstGeom>
          <a:noFill/>
          <a:ln w="15875">
            <a:solidFill>
              <a:srgbClr val="B0B8C4"/>
            </a:solidFill>
            <a:prstDash val="solid"/>
          </a:ln>
        </p:spPr>
        <p:txBody>
          <a:bodyPr/>
          <a:lstStyle/>
          <a:p>
            <a:endParaRPr lang="tr-TR"/>
          </a:p>
        </p:txBody>
      </p:sp>
      <p:sp>
        <p:nvSpPr>
          <p:cNvPr id="39" name="Rounded Rectangle 38"/>
          <p:cNvSpPr/>
          <p:nvPr/>
        </p:nvSpPr>
        <p:spPr>
          <a:xfrm>
            <a:off x="640080" y="7380000"/>
            <a:ext cx="10607040" cy="760000"/>
          </a:xfrm>
          <a:prstGeom prst="roundRect">
            <a:avLst/>
          </a:prstGeom>
          <a:solidFill>
            <a:srgbClr val="EEF8F0"/>
          </a:solidFill>
          <a:ln w="12700">
            <a:solidFill>
              <a:srgbClr val="8FD19E"/>
            </a:solidFill>
          </a:ln>
          <a:effectLst/>
        </p:spPr>
        <p:style>
          <a:lnRef idx="1">
            <a:schemeClr val="accent1"/>
          </a:lnRef>
          <a:fillRef idx="3">
            <a:schemeClr val="accent1"/>
          </a:fillRef>
          <a:effectRef idx="2">
            <a:schemeClr val="accent1"/>
          </a:effectRef>
          <a:fontRef idx="minor">
            <a:schemeClr val="lt1"/>
          </a:fontRef>
        </p:style>
        <p:txBody>
          <a:bodyPr wrap="square" lIns="200000" rIns="200000" rtlCol="0" anchor="ctr"/>
          <a:lstStyle/>
          <a:p>
            <a:pPr algn="l"/>
            <a:r>
              <a:rPr lang="az-Latn-AZ" sz="1200" b="1" dirty="0">
                <a:solidFill>
                  <a:srgbClr val="1B6E1B"/>
                </a:solidFill>
                <a:latin typeface="Poppins"/>
              </a:rPr>
              <a:t>Üstünlüyümüz: problem səs, foto və ya mətnlə təsvir edi</a:t>
            </a:r>
            <a:r>
              <a:rPr lang="en-US" sz="1200" b="1" dirty="0" err="1">
                <a:solidFill>
                  <a:srgbClr val="1B6E1B"/>
                </a:solidFill>
                <a:latin typeface="Poppins"/>
              </a:rPr>
              <a:t>lir</a:t>
            </a:r>
            <a:r>
              <a:rPr lang="az-Latn-AZ" sz="1200" b="1" dirty="0">
                <a:solidFill>
                  <a:srgbClr val="1B6E1B"/>
                </a:solidFill>
                <a:latin typeface="Poppins"/>
              </a:rPr>
              <a:t> — süni intellekt qurumu özü </a:t>
            </a:r>
            <a:r>
              <a:rPr lang="en-US" sz="1200" b="1" dirty="0" err="1">
                <a:solidFill>
                  <a:srgbClr val="1B6E1B"/>
                </a:solidFill>
                <a:latin typeface="Poppins"/>
              </a:rPr>
              <a:t>müəyyənləşdirir</a:t>
            </a:r>
            <a:r>
              <a:rPr lang="az-Latn-AZ" sz="1200" b="1" dirty="0">
                <a:solidFill>
                  <a:srgbClr val="1B6E1B"/>
                </a:solidFill>
                <a:latin typeface="Poppins"/>
              </a:rPr>
              <a:t>. ASAN Müraciət milli dövlət platformasıdır; SmartLine isə istənilən ölkədə istənilən qurum üçün nəzərdə tutulub.</a:t>
            </a:r>
          </a:p>
        </p:txBody>
      </p:sp>
      <p:pic>
        <p:nvPicPr>
          <p:cNvPr id="41" name="Cross" descr="preencoded.png">
            <a:extLst>
              <a:ext uri="{FF2B5EF4-FFF2-40B4-BE49-F238E27FC236}">
                <a16:creationId xmlns:a16="http://schemas.microsoft.com/office/drawing/2014/main" id="{67ECB434-4CBC-2957-1A83-698EA03B1EB3}"/>
              </a:ext>
            </a:extLst>
          </p:cNvPr>
          <p:cNvPicPr>
            <a:picLocks noChangeAspect="1"/>
          </p:cNvPicPr>
          <p:nvPr/>
        </p:nvPicPr>
        <p:blipFill>
          <a:blip r:embed="rId4"/>
          <a:stretch>
            <a:fillRect/>
          </a:stretch>
        </p:blipFill>
        <p:spPr>
          <a:xfrm>
            <a:off x="6389120" y="4366259"/>
            <a:ext cx="45720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3 illik </a:t>
            </a:r>
            <a:r>
              <a:rPr lang="az-Latn-AZ" sz="3600" b="1" dirty="0">
                <a:solidFill>
                  <a:srgbClr val="238B3F"/>
                </a:solidFill>
                <a:latin typeface="Poppins" pitchFamily="34" charset="0"/>
                <a:ea typeface="Poppins" pitchFamily="34" charset="-122"/>
                <a:cs typeface="Poppins" pitchFamily="34" charset="-120"/>
              </a:rPr>
              <a:t>maliyyə proqnozu</a:t>
            </a:r>
            <a:endParaRPr lang="en-US" sz="3600" dirty="0"/>
          </a:p>
        </p:txBody>
      </p:sp>
      <p:graphicFrame>
        <p:nvGraphicFramePr>
          <p:cNvPr id="3" name="Chart 0"/>
          <p:cNvGraphicFramePr/>
          <p:nvPr>
            <p:extLst>
              <p:ext uri="{D42A27DB-BD31-4B8C-83A1-F6EECF244321}">
                <p14:modId xmlns:p14="http://schemas.microsoft.com/office/powerpoint/2010/main" val="2217763424"/>
              </p:ext>
            </p:extLst>
          </p:nvPr>
        </p:nvGraphicFramePr>
        <p:xfrm>
          <a:off x="548640" y="2011680"/>
          <a:ext cx="7132320" cy="5852160"/>
        </p:xfrm>
        <a:graphic>
          <a:graphicData uri="http://schemas.openxmlformats.org/drawingml/2006/chart">
            <c:chart xmlns:c="http://schemas.openxmlformats.org/drawingml/2006/chart" xmlns:r="http://schemas.openxmlformats.org/officeDocument/2006/relationships" r:id="rId3"/>
          </a:graphicData>
        </a:graphic>
      </p:graphicFrame>
      <p:sp>
        <p:nvSpPr>
          <p:cNvPr id="4" name="Revenue card"/>
          <p:cNvSpPr/>
          <p:nvPr/>
        </p:nvSpPr>
        <p:spPr>
          <a:xfrm>
            <a:off x="8138160" y="2286000"/>
            <a:ext cx="3200400" cy="2468880"/>
          </a:xfrm>
          <a:prstGeom prst="roundRect">
            <a:avLst>
              <a:gd name="adj" fmla="val 7407"/>
            </a:avLst>
          </a:prstGeom>
          <a:solidFill>
            <a:srgbClr val="F0FBF1"/>
          </a:solidFill>
          <a:ln w="12700">
            <a:solidFill>
              <a:srgbClr val="D3EAD6"/>
            </a:solidFill>
            <a:prstDash val="solid"/>
          </a:ln>
        </p:spPr>
        <p:txBody>
          <a:bodyPr/>
          <a:lstStyle/>
          <a:p>
            <a:endParaRPr lang="tr-TR"/>
          </a:p>
        </p:txBody>
      </p:sp>
      <p:sp>
        <p:nvSpPr>
          <p:cNvPr id="5" name="Text 2"/>
          <p:cNvSpPr txBox="1"/>
          <p:nvPr/>
        </p:nvSpPr>
        <p:spPr>
          <a:xfrm>
            <a:off x="8412480" y="2560320"/>
            <a:ext cx="2743200" cy="457200"/>
          </a:xfrm>
          <a:prstGeom prst="rect">
            <a:avLst/>
          </a:prstGeom>
          <a:noFill/>
          <a:ln/>
        </p:spPr>
        <p:txBody>
          <a:bodyPr wrap="square" lIns="0" tIns="0" rIns="0" bIns="0" rtlCol="0" anchor="t"/>
          <a:lstStyle/>
          <a:p>
            <a:pPr marL="0" indent="0">
              <a:buNone/>
            </a:pPr>
            <a:r>
              <a:rPr lang="az-Latn-AZ" sz="1800" dirty="0">
                <a:solidFill>
                  <a:srgbClr val="555555"/>
                </a:solidFill>
                <a:latin typeface="Poppins" pitchFamily="34" charset="0"/>
                <a:ea typeface="Poppins" pitchFamily="34" charset="-122"/>
                <a:cs typeface="Poppins" pitchFamily="34" charset="-120"/>
              </a:rPr>
              <a:t>3-cü il gəliri</a:t>
            </a:r>
            <a:endParaRPr lang="en-US" sz="1800" dirty="0"/>
          </a:p>
        </p:txBody>
      </p:sp>
      <p:sp>
        <p:nvSpPr>
          <p:cNvPr id="6" name="Text 3"/>
          <p:cNvSpPr txBox="1"/>
          <p:nvPr/>
        </p:nvSpPr>
        <p:spPr>
          <a:xfrm>
            <a:off x="8412480" y="3200400"/>
            <a:ext cx="2743200" cy="914400"/>
          </a:xfrm>
          <a:prstGeom prst="rect">
            <a:avLst/>
          </a:prstGeom>
          <a:noFill/>
          <a:ln/>
        </p:spPr>
        <p:txBody>
          <a:bodyPr wrap="square" lIns="0" tIns="0" rIns="0" bIns="0" rtlCol="0" anchor="ctr"/>
          <a:lstStyle/>
          <a:p>
            <a:pPr marL="0" indent="0">
              <a:buNone/>
            </a:pPr>
            <a:r>
              <a:rPr lang="en-US" sz="3200" b="1" dirty="0">
                <a:solidFill>
                  <a:srgbClr val="238B3F"/>
                </a:solidFill>
                <a:latin typeface="Poppins" pitchFamily="34" charset="0"/>
                <a:ea typeface="Poppins" pitchFamily="34" charset="-122"/>
                <a:cs typeface="Poppins" pitchFamily="34" charset="-120"/>
              </a:rPr>
              <a:t>220 400 </a:t>
            </a:r>
            <a:r>
              <a:rPr lang="az-Latn-AZ" sz="3200" b="1" dirty="0">
                <a:solidFill>
                  <a:srgbClr val="238B3F"/>
                </a:solidFill>
                <a:latin typeface="Poppins" pitchFamily="34" charset="0"/>
                <a:ea typeface="Poppins" pitchFamily="34" charset="-122"/>
                <a:cs typeface="Poppins" pitchFamily="34" charset="-120"/>
              </a:rPr>
              <a:t>$</a:t>
            </a:r>
            <a:endParaRPr lang="en-US" sz="3200" dirty="0"/>
          </a:p>
        </p:txBody>
      </p:sp>
      <p:sp>
        <p:nvSpPr>
          <p:cNvPr id="7" name="Profit card"/>
          <p:cNvSpPr/>
          <p:nvPr/>
        </p:nvSpPr>
        <p:spPr>
          <a:xfrm>
            <a:off x="8138160" y="5120640"/>
            <a:ext cx="3200400" cy="2468880"/>
          </a:xfrm>
          <a:prstGeom prst="roundRect">
            <a:avLst>
              <a:gd name="adj" fmla="val 7407"/>
            </a:avLst>
          </a:prstGeom>
          <a:solidFill>
            <a:srgbClr val="1A6B1A"/>
          </a:solidFill>
          <a:ln w="12700">
            <a:solidFill>
              <a:srgbClr val="1A6B1A"/>
            </a:solidFill>
            <a:prstDash val="solid"/>
          </a:ln>
        </p:spPr>
        <p:txBody>
          <a:bodyPr/>
          <a:lstStyle/>
          <a:p>
            <a:endParaRPr lang="tr-TR"/>
          </a:p>
        </p:txBody>
      </p:sp>
      <p:sp>
        <p:nvSpPr>
          <p:cNvPr id="8" name="Text 5"/>
          <p:cNvSpPr txBox="1"/>
          <p:nvPr/>
        </p:nvSpPr>
        <p:spPr>
          <a:xfrm>
            <a:off x="8412480" y="5394960"/>
            <a:ext cx="2743200" cy="457200"/>
          </a:xfrm>
          <a:prstGeom prst="rect">
            <a:avLst/>
          </a:prstGeom>
          <a:noFill/>
          <a:ln/>
        </p:spPr>
        <p:txBody>
          <a:bodyPr wrap="square" lIns="0" tIns="0" rIns="0" bIns="0" rtlCol="0" anchor="t"/>
          <a:lstStyle/>
          <a:p>
            <a:pPr marL="0" indent="0">
              <a:buNone/>
            </a:pPr>
            <a:r>
              <a:rPr lang="az-Latn-AZ" sz="1800" dirty="0">
                <a:solidFill>
                  <a:srgbClr val="CFF3C6"/>
                </a:solidFill>
                <a:latin typeface="Poppins" pitchFamily="34" charset="0"/>
                <a:ea typeface="Poppins" pitchFamily="34" charset="-122"/>
                <a:cs typeface="Poppins" pitchFamily="34" charset="-120"/>
              </a:rPr>
              <a:t>3-cü ildə ödənişli müştərilər</a:t>
            </a:r>
            <a:endParaRPr lang="en-US" sz="1800" dirty="0"/>
          </a:p>
        </p:txBody>
      </p:sp>
      <p:sp>
        <p:nvSpPr>
          <p:cNvPr id="9" name="Text 6"/>
          <p:cNvSpPr txBox="1"/>
          <p:nvPr/>
        </p:nvSpPr>
        <p:spPr>
          <a:xfrm>
            <a:off x="8412480" y="6035040"/>
            <a:ext cx="2743200" cy="914400"/>
          </a:xfrm>
          <a:prstGeom prst="rect">
            <a:avLst/>
          </a:prstGeom>
          <a:noFill/>
          <a:ln/>
        </p:spPr>
        <p:txBody>
          <a:bodyPr wrap="square" lIns="0" tIns="0" rIns="0" bIns="0" rtlCol="0" anchor="ctr"/>
          <a:lstStyle/>
          <a:p>
            <a:pPr marL="0" indent="0">
              <a:buNone/>
            </a:pPr>
            <a:r>
              <a:rPr lang="en-US" sz="3200" b="1" dirty="0">
                <a:solidFill>
                  <a:srgbClr val="FFFFFF"/>
                </a:solidFill>
                <a:latin typeface="Poppins" pitchFamily="34" charset="0"/>
                <a:ea typeface="Poppins" pitchFamily="34" charset="-122"/>
                <a:cs typeface="Poppins" pitchFamily="34" charset="-120"/>
              </a:rPr>
              <a:t>70+</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640080" y="548640"/>
            <a:ext cx="10607040" cy="1005840"/>
          </a:xfrm>
          <a:prstGeom prst="rect">
            <a:avLst/>
          </a:prstGeom>
          <a:noFill/>
          <a:ln/>
        </p:spPr>
        <p:txBody>
          <a:bodyPr wrap="square" lIns="0" tIns="0" rIns="0" bIns="0" rtlCol="0" anchor="ctr"/>
          <a:lstStyle/>
          <a:p>
            <a:pPr marL="0" indent="0">
              <a:buNone/>
            </a:pPr>
            <a:r>
              <a:rPr lang="az-Latn-AZ" sz="3600" b="1" dirty="0">
                <a:solidFill>
                  <a:srgbClr val="111111"/>
                </a:solidFill>
                <a:latin typeface="Poppins" pitchFamily="34" charset="0"/>
                <a:ea typeface="Poppins" pitchFamily="34" charset="-122"/>
                <a:cs typeface="Poppins" pitchFamily="34" charset="-120"/>
              </a:rPr>
              <a:t>Yol </a:t>
            </a:r>
            <a:r>
              <a:rPr lang="az-Latn-AZ" sz="3600" b="1" dirty="0">
                <a:solidFill>
                  <a:srgbClr val="238B3F"/>
                </a:solidFill>
                <a:latin typeface="Poppins" pitchFamily="34" charset="0"/>
                <a:ea typeface="Poppins" pitchFamily="34" charset="-122"/>
                <a:cs typeface="Poppins" pitchFamily="34" charset="-120"/>
              </a:rPr>
              <a:t>xəritəsi</a:t>
            </a:r>
            <a:endParaRPr lang="en-US" sz="3600" dirty="0"/>
          </a:p>
        </p:txBody>
      </p:sp>
      <p:sp>
        <p:nvSpPr>
          <p:cNvPr id="3" name="Timeline"/>
          <p:cNvSpPr/>
          <p:nvPr/>
        </p:nvSpPr>
        <p:spPr>
          <a:xfrm>
            <a:off x="1828800" y="3794760"/>
            <a:ext cx="8202168" cy="0"/>
          </a:xfrm>
          <a:prstGeom prst="line">
            <a:avLst/>
          </a:prstGeom>
          <a:noFill/>
          <a:ln w="50800">
            <a:solidFill>
              <a:srgbClr val="52D033"/>
            </a:solidFill>
            <a:prstDash val="solid"/>
          </a:ln>
        </p:spPr>
        <p:txBody>
          <a:bodyPr/>
          <a:lstStyle/>
          <a:p>
            <a:endParaRPr lang="tr-TR"/>
          </a:p>
        </p:txBody>
      </p:sp>
      <p:sp>
        <p:nvSpPr>
          <p:cNvPr id="4" name="Text 2"/>
          <p:cNvSpPr txBox="1"/>
          <p:nvPr/>
        </p:nvSpPr>
        <p:spPr>
          <a:xfrm>
            <a:off x="640080" y="2468880"/>
            <a:ext cx="2377440" cy="640080"/>
          </a:xfrm>
          <a:prstGeom prst="rect">
            <a:avLst/>
          </a:prstGeom>
          <a:noFill/>
          <a:ln/>
        </p:spPr>
        <p:txBody>
          <a:bodyPr wrap="square" lIns="0" tIns="0" rIns="0" bIns="0" rtlCol="0" anchor="ctr"/>
          <a:lstStyle/>
          <a:p>
            <a:pPr marL="0" indent="0" algn="ctr">
              <a:buNone/>
            </a:pPr>
            <a:r>
              <a:rPr lang="az-Latn-AZ" sz="2400" b="1" dirty="0">
                <a:solidFill>
                  <a:srgbClr val="238B3F"/>
                </a:solidFill>
                <a:latin typeface="Poppins" pitchFamily="34" charset="0"/>
                <a:ea typeface="Poppins" pitchFamily="34" charset="-122"/>
                <a:cs typeface="Poppins" pitchFamily="34" charset="-120"/>
              </a:rPr>
              <a:t>I–II rüb</a:t>
            </a:r>
            <a:endParaRPr lang="en-US" sz="2400" dirty="0"/>
          </a:p>
        </p:txBody>
      </p:sp>
      <p:sp>
        <p:nvSpPr>
          <p:cNvPr id="5" name="Step circle"/>
          <p:cNvSpPr/>
          <p:nvPr/>
        </p:nvSpPr>
        <p:spPr>
          <a:xfrm>
            <a:off x="1325880" y="3291840"/>
            <a:ext cx="1005840" cy="1005840"/>
          </a:xfrm>
          <a:prstGeom prst="ellipse">
            <a:avLst/>
          </a:prstGeom>
          <a:solidFill>
            <a:srgbClr val="238B3F"/>
          </a:solidFill>
          <a:ln w="38100">
            <a:solidFill>
              <a:srgbClr val="FFFFFF"/>
            </a:solidFill>
            <a:prstDash val="solid"/>
          </a:ln>
        </p:spPr>
        <p:txBody>
          <a:bodyPr/>
          <a:lstStyle/>
          <a:p>
            <a:endParaRPr lang="tr-TR"/>
          </a:p>
        </p:txBody>
      </p:sp>
      <p:sp>
        <p:nvSpPr>
          <p:cNvPr id="6" name="Text 4"/>
          <p:cNvSpPr txBox="1"/>
          <p:nvPr/>
        </p:nvSpPr>
        <p:spPr>
          <a:xfrm>
            <a:off x="1325880" y="3291840"/>
            <a:ext cx="1005840" cy="1005840"/>
          </a:xfrm>
          <a:prstGeom prst="rect">
            <a:avLst/>
          </a:prstGeom>
          <a:noFill/>
          <a:ln/>
        </p:spPr>
        <p:txBody>
          <a:bodyPr wrap="square" lIns="0" tIns="0" rIns="0" bIns="0" rtlCol="0" anchor="ctr"/>
          <a:lstStyle/>
          <a:p>
            <a:pPr algn="ctr"/>
            <a:r>
              <a:rPr lang="tr-TR" sz="2800" b="1" dirty="0">
                <a:solidFill>
                  <a:srgbClr val="FFFFFF"/>
                </a:solidFill>
                <a:latin typeface="Poppins" pitchFamily="34" charset="0"/>
                <a:cs typeface="Poppins" pitchFamily="34" charset="-120"/>
              </a:rPr>
              <a:t>✔</a:t>
            </a:r>
          </a:p>
        </p:txBody>
      </p:sp>
      <p:sp>
        <p:nvSpPr>
          <p:cNvPr id="7" name="Step card"/>
          <p:cNvSpPr/>
          <p:nvPr/>
        </p:nvSpPr>
        <p:spPr>
          <a:xfrm>
            <a:off x="640080" y="4754880"/>
            <a:ext cx="2377440" cy="2286000"/>
          </a:xfrm>
          <a:prstGeom prst="roundRect">
            <a:avLst>
              <a:gd name="adj" fmla="val 8000"/>
            </a:avLst>
          </a:prstGeom>
          <a:solidFill>
            <a:srgbClr val="F0FBF1"/>
          </a:solidFill>
          <a:ln w="12700">
            <a:solidFill>
              <a:srgbClr val="D3EAD6"/>
            </a:solidFill>
            <a:prstDash val="solid"/>
          </a:ln>
        </p:spPr>
        <p:txBody>
          <a:bodyPr/>
          <a:lstStyle/>
          <a:p>
            <a:endParaRPr lang="tr-TR"/>
          </a:p>
        </p:txBody>
      </p:sp>
      <p:sp>
        <p:nvSpPr>
          <p:cNvPr id="8" name="Text 6"/>
          <p:cNvSpPr txBox="1"/>
          <p:nvPr/>
        </p:nvSpPr>
        <p:spPr>
          <a:xfrm>
            <a:off x="777240" y="4983480"/>
            <a:ext cx="2103120" cy="457200"/>
          </a:xfrm>
          <a:prstGeom prst="rect">
            <a:avLst/>
          </a:prstGeom>
          <a:noFill/>
          <a:ln/>
        </p:spPr>
        <p:txBody>
          <a:bodyPr wrap="square" lIns="0" tIns="0" rIns="0" bIns="0" rtlCol="0" anchor="t"/>
          <a:lstStyle/>
          <a:p>
            <a:pPr marL="0" indent="0">
              <a:buNone/>
            </a:pPr>
            <a:r>
              <a:rPr lang="az-Latn-AZ" sz="1600" dirty="0">
                <a:solidFill>
                  <a:srgbClr val="555555"/>
                </a:solidFill>
                <a:latin typeface="Poppins" pitchFamily="34" charset="0"/>
                <a:ea typeface="Poppins" pitchFamily="34" charset="-122"/>
                <a:cs typeface="Poppins" pitchFamily="34" charset="-120"/>
              </a:rPr>
              <a:t>Mərhələ 1</a:t>
            </a:r>
            <a:endParaRPr lang="en-US" sz="1600" dirty="0"/>
          </a:p>
        </p:txBody>
      </p:sp>
      <p:sp>
        <p:nvSpPr>
          <p:cNvPr id="9" name="Text 7"/>
          <p:cNvSpPr txBox="1"/>
          <p:nvPr/>
        </p:nvSpPr>
        <p:spPr>
          <a:xfrm>
            <a:off x="777240" y="5532120"/>
            <a:ext cx="2103120" cy="1280160"/>
          </a:xfrm>
          <a:prstGeom prst="rect">
            <a:avLst/>
          </a:prstGeom>
          <a:noFill/>
          <a:ln/>
        </p:spPr>
        <p:txBody>
          <a:bodyPr wrap="square" lIns="0" tIns="0" rIns="0" bIns="0" rtlCol="0" anchor="t"/>
          <a:lstStyle/>
          <a:p>
            <a:r>
              <a:rPr lang="tr-TR" b="1" dirty="0">
                <a:solidFill>
                  <a:srgbClr val="111111"/>
                </a:solidFill>
                <a:latin typeface="Poppins" pitchFamily="34" charset="0"/>
                <a:cs typeface="Poppins" pitchFamily="34" charset="-120"/>
              </a:rPr>
              <a:t>Tətbiq hazırdır və sınaqdan keçirilib</a:t>
            </a:r>
            <a:endParaRPr lang="en-US" b="1" dirty="0">
              <a:solidFill>
                <a:srgbClr val="111111"/>
              </a:solidFill>
              <a:latin typeface="Poppins" pitchFamily="34" charset="0"/>
              <a:cs typeface="Poppins" pitchFamily="34" charset="-120"/>
            </a:endParaRPr>
          </a:p>
        </p:txBody>
      </p:sp>
      <p:sp>
        <p:nvSpPr>
          <p:cNvPr id="10" name="Text 8"/>
          <p:cNvSpPr txBox="1"/>
          <p:nvPr/>
        </p:nvSpPr>
        <p:spPr>
          <a:xfrm>
            <a:off x="3374136" y="2468880"/>
            <a:ext cx="2377440" cy="640080"/>
          </a:xfrm>
          <a:prstGeom prst="rect">
            <a:avLst/>
          </a:prstGeom>
          <a:noFill/>
          <a:ln/>
        </p:spPr>
        <p:txBody>
          <a:bodyPr wrap="square" lIns="0" tIns="0" rIns="0" bIns="0" rtlCol="0" anchor="ctr"/>
          <a:lstStyle/>
          <a:p>
            <a:pPr marL="0" indent="0" algn="ctr">
              <a:buNone/>
            </a:pPr>
            <a:r>
              <a:rPr lang="az-Latn-AZ" sz="2400" b="1" dirty="0">
                <a:solidFill>
                  <a:srgbClr val="238B3F"/>
                </a:solidFill>
                <a:latin typeface="Poppins" pitchFamily="34" charset="0"/>
                <a:ea typeface="Poppins" pitchFamily="34" charset="-122"/>
                <a:cs typeface="Poppins" pitchFamily="34" charset="-120"/>
              </a:rPr>
              <a:t>III–IV rüb</a:t>
            </a:r>
            <a:endParaRPr lang="en-US" sz="2400" dirty="0"/>
          </a:p>
        </p:txBody>
      </p:sp>
      <p:sp>
        <p:nvSpPr>
          <p:cNvPr id="11" name="Step circle"/>
          <p:cNvSpPr/>
          <p:nvPr/>
        </p:nvSpPr>
        <p:spPr>
          <a:xfrm>
            <a:off x="4059936" y="3291840"/>
            <a:ext cx="1005840" cy="1005840"/>
          </a:xfrm>
          <a:prstGeom prst="ellipse">
            <a:avLst/>
          </a:prstGeom>
          <a:solidFill>
            <a:srgbClr val="238B3F"/>
          </a:solidFill>
          <a:ln w="38100">
            <a:solidFill>
              <a:srgbClr val="FFFFFF"/>
            </a:solidFill>
            <a:prstDash val="solid"/>
          </a:ln>
        </p:spPr>
        <p:txBody>
          <a:bodyPr/>
          <a:lstStyle/>
          <a:p>
            <a:endParaRPr lang="tr-TR"/>
          </a:p>
        </p:txBody>
      </p:sp>
      <p:sp>
        <p:nvSpPr>
          <p:cNvPr id="12" name="Text 10"/>
          <p:cNvSpPr txBox="1"/>
          <p:nvPr/>
        </p:nvSpPr>
        <p:spPr>
          <a:xfrm>
            <a:off x="4059936" y="3291840"/>
            <a:ext cx="1005840" cy="1005840"/>
          </a:xfrm>
          <a:prstGeom prst="rect">
            <a:avLst/>
          </a:prstGeom>
          <a:noFill/>
          <a:ln/>
        </p:spPr>
        <p:txBody>
          <a:bodyPr wrap="square" lIns="0" tIns="0" rIns="0" bIns="0" rtlCol="0" anchor="ctr"/>
          <a:lstStyle/>
          <a:p>
            <a:pPr marL="0" indent="0" algn="ctr">
              <a:buNone/>
            </a:pPr>
            <a:r>
              <a:rPr lang="en-US" sz="2800" b="1" dirty="0">
                <a:solidFill>
                  <a:srgbClr val="FFFFFF"/>
                </a:solidFill>
                <a:latin typeface="Poppins" pitchFamily="34" charset="0"/>
                <a:ea typeface="Poppins" pitchFamily="34" charset="-122"/>
                <a:cs typeface="Poppins" pitchFamily="34" charset="-120"/>
              </a:rPr>
              <a:t>2</a:t>
            </a:r>
            <a:endParaRPr lang="en-US" sz="2800" dirty="0"/>
          </a:p>
        </p:txBody>
      </p:sp>
      <p:sp>
        <p:nvSpPr>
          <p:cNvPr id="13" name="Step card"/>
          <p:cNvSpPr/>
          <p:nvPr/>
        </p:nvSpPr>
        <p:spPr>
          <a:xfrm>
            <a:off x="3374136" y="4754880"/>
            <a:ext cx="2377440" cy="2286000"/>
          </a:xfrm>
          <a:prstGeom prst="roundRect">
            <a:avLst>
              <a:gd name="adj" fmla="val 8000"/>
            </a:avLst>
          </a:prstGeom>
          <a:solidFill>
            <a:srgbClr val="F0FBF1"/>
          </a:solidFill>
          <a:ln w="12700">
            <a:solidFill>
              <a:srgbClr val="D3EAD6"/>
            </a:solidFill>
            <a:prstDash val="solid"/>
          </a:ln>
        </p:spPr>
        <p:txBody>
          <a:bodyPr/>
          <a:lstStyle/>
          <a:p>
            <a:endParaRPr lang="tr-TR"/>
          </a:p>
        </p:txBody>
      </p:sp>
      <p:sp>
        <p:nvSpPr>
          <p:cNvPr id="14" name="Text 12"/>
          <p:cNvSpPr txBox="1"/>
          <p:nvPr/>
        </p:nvSpPr>
        <p:spPr>
          <a:xfrm>
            <a:off x="3511296" y="4983480"/>
            <a:ext cx="2103120" cy="457200"/>
          </a:xfrm>
          <a:prstGeom prst="rect">
            <a:avLst/>
          </a:prstGeom>
          <a:noFill/>
          <a:ln/>
        </p:spPr>
        <p:txBody>
          <a:bodyPr wrap="square" lIns="0" tIns="0" rIns="0" bIns="0" rtlCol="0" anchor="t"/>
          <a:lstStyle/>
          <a:p>
            <a:pPr marL="0" indent="0">
              <a:buNone/>
            </a:pPr>
            <a:r>
              <a:rPr lang="az-Latn-AZ" sz="1600" dirty="0">
                <a:solidFill>
                  <a:srgbClr val="555555"/>
                </a:solidFill>
                <a:latin typeface="Poppins" pitchFamily="34" charset="0"/>
                <a:ea typeface="Poppins" pitchFamily="34" charset="-122"/>
                <a:cs typeface="Poppins" pitchFamily="34" charset="-120"/>
              </a:rPr>
              <a:t>Mərhələ 2</a:t>
            </a:r>
            <a:endParaRPr lang="en-US" sz="1600" dirty="0"/>
          </a:p>
        </p:txBody>
      </p:sp>
      <p:sp>
        <p:nvSpPr>
          <p:cNvPr id="15" name="Text 13"/>
          <p:cNvSpPr txBox="1"/>
          <p:nvPr/>
        </p:nvSpPr>
        <p:spPr>
          <a:xfrm>
            <a:off x="3511296" y="5532120"/>
            <a:ext cx="2103120" cy="1280160"/>
          </a:xfrm>
          <a:prstGeom prst="rect">
            <a:avLst/>
          </a:prstGeom>
          <a:noFill/>
          <a:ln/>
        </p:spPr>
        <p:txBody>
          <a:bodyPr wrap="square" lIns="0" tIns="0" rIns="0" bIns="0" rtlCol="0" anchor="t"/>
          <a:lstStyle/>
          <a:p>
            <a:pPr marL="0" indent="0">
              <a:buNone/>
            </a:pPr>
            <a:r>
              <a:rPr lang="az-Latn-AZ" sz="1800" b="1" dirty="0">
                <a:solidFill>
                  <a:srgbClr val="111111"/>
                </a:solidFill>
                <a:latin typeface="Poppins" pitchFamily="34" charset="0"/>
                <a:ea typeface="Poppins" pitchFamily="34" charset="-122"/>
                <a:cs typeface="Poppins" pitchFamily="34" charset="-120"/>
              </a:rPr>
              <a:t>Pulsuz pilot, sonra ilk ödənişli müqavilələr</a:t>
            </a:r>
            <a:endParaRPr lang="en-US" sz="1800" dirty="0"/>
          </a:p>
        </p:txBody>
      </p:sp>
      <p:sp>
        <p:nvSpPr>
          <p:cNvPr id="16" name="Text 14"/>
          <p:cNvSpPr txBox="1"/>
          <p:nvPr/>
        </p:nvSpPr>
        <p:spPr>
          <a:xfrm>
            <a:off x="6108192" y="2468880"/>
            <a:ext cx="2377440" cy="640080"/>
          </a:xfrm>
          <a:prstGeom prst="rect">
            <a:avLst/>
          </a:prstGeom>
          <a:noFill/>
          <a:ln/>
        </p:spPr>
        <p:txBody>
          <a:bodyPr wrap="square" lIns="0" tIns="0" rIns="0" bIns="0" rtlCol="0" anchor="ctr"/>
          <a:lstStyle/>
          <a:p>
            <a:pPr marL="0" indent="0" algn="ctr">
              <a:buNone/>
            </a:pPr>
            <a:r>
              <a:rPr lang="az-Latn-AZ" sz="2400" b="1" dirty="0">
                <a:solidFill>
                  <a:srgbClr val="238B3F"/>
                </a:solidFill>
                <a:latin typeface="Poppins" pitchFamily="34" charset="0"/>
                <a:ea typeface="Poppins" pitchFamily="34" charset="-122"/>
                <a:cs typeface="Poppins" pitchFamily="34" charset="-120"/>
              </a:rPr>
              <a:t>2-ci il</a:t>
            </a:r>
            <a:endParaRPr lang="en-US" sz="2400" dirty="0"/>
          </a:p>
        </p:txBody>
      </p:sp>
      <p:sp>
        <p:nvSpPr>
          <p:cNvPr id="17" name="Step circle"/>
          <p:cNvSpPr/>
          <p:nvPr/>
        </p:nvSpPr>
        <p:spPr>
          <a:xfrm>
            <a:off x="6793992" y="3291840"/>
            <a:ext cx="1005840" cy="1005840"/>
          </a:xfrm>
          <a:prstGeom prst="ellipse">
            <a:avLst/>
          </a:prstGeom>
          <a:solidFill>
            <a:srgbClr val="238B3F"/>
          </a:solidFill>
          <a:ln w="38100">
            <a:solidFill>
              <a:srgbClr val="FFFFFF"/>
            </a:solidFill>
            <a:prstDash val="solid"/>
          </a:ln>
        </p:spPr>
        <p:txBody>
          <a:bodyPr/>
          <a:lstStyle/>
          <a:p>
            <a:endParaRPr lang="tr-TR"/>
          </a:p>
        </p:txBody>
      </p:sp>
      <p:sp>
        <p:nvSpPr>
          <p:cNvPr id="18" name="Text 16"/>
          <p:cNvSpPr txBox="1"/>
          <p:nvPr/>
        </p:nvSpPr>
        <p:spPr>
          <a:xfrm>
            <a:off x="6793992" y="3291840"/>
            <a:ext cx="1005840" cy="1005840"/>
          </a:xfrm>
          <a:prstGeom prst="rect">
            <a:avLst/>
          </a:prstGeom>
          <a:noFill/>
          <a:ln/>
        </p:spPr>
        <p:txBody>
          <a:bodyPr wrap="square" lIns="0" tIns="0" rIns="0" bIns="0" rtlCol="0" anchor="ctr"/>
          <a:lstStyle/>
          <a:p>
            <a:pPr marL="0" indent="0" algn="ctr">
              <a:buNone/>
            </a:pPr>
            <a:r>
              <a:rPr lang="en-US" sz="2800" b="1" dirty="0">
                <a:solidFill>
                  <a:srgbClr val="FFFFFF"/>
                </a:solidFill>
                <a:latin typeface="Poppins" pitchFamily="34" charset="0"/>
                <a:ea typeface="Poppins" pitchFamily="34" charset="-122"/>
                <a:cs typeface="Poppins" pitchFamily="34" charset="-120"/>
              </a:rPr>
              <a:t>3</a:t>
            </a:r>
            <a:endParaRPr lang="en-US" sz="2800" dirty="0"/>
          </a:p>
        </p:txBody>
      </p:sp>
      <p:sp>
        <p:nvSpPr>
          <p:cNvPr id="19" name="Step card"/>
          <p:cNvSpPr/>
          <p:nvPr/>
        </p:nvSpPr>
        <p:spPr>
          <a:xfrm>
            <a:off x="6108192" y="4754880"/>
            <a:ext cx="2377440" cy="2286000"/>
          </a:xfrm>
          <a:prstGeom prst="roundRect">
            <a:avLst>
              <a:gd name="adj" fmla="val 8000"/>
            </a:avLst>
          </a:prstGeom>
          <a:solidFill>
            <a:srgbClr val="F0FBF1"/>
          </a:solidFill>
          <a:ln w="12700">
            <a:solidFill>
              <a:srgbClr val="D3EAD6"/>
            </a:solidFill>
            <a:prstDash val="solid"/>
          </a:ln>
        </p:spPr>
        <p:txBody>
          <a:bodyPr/>
          <a:lstStyle/>
          <a:p>
            <a:endParaRPr lang="tr-TR"/>
          </a:p>
        </p:txBody>
      </p:sp>
      <p:sp>
        <p:nvSpPr>
          <p:cNvPr id="20" name="Text 18"/>
          <p:cNvSpPr txBox="1"/>
          <p:nvPr/>
        </p:nvSpPr>
        <p:spPr>
          <a:xfrm>
            <a:off x="6245352" y="4983480"/>
            <a:ext cx="2103120" cy="457200"/>
          </a:xfrm>
          <a:prstGeom prst="rect">
            <a:avLst/>
          </a:prstGeom>
          <a:noFill/>
          <a:ln/>
        </p:spPr>
        <p:txBody>
          <a:bodyPr wrap="square" lIns="0" tIns="0" rIns="0" bIns="0" rtlCol="0" anchor="t"/>
          <a:lstStyle/>
          <a:p>
            <a:pPr marL="0" indent="0">
              <a:buNone/>
            </a:pPr>
            <a:r>
              <a:rPr lang="az-Latn-AZ" sz="1600" dirty="0">
                <a:solidFill>
                  <a:srgbClr val="555555"/>
                </a:solidFill>
                <a:latin typeface="Poppins" pitchFamily="34" charset="0"/>
                <a:ea typeface="Poppins" pitchFamily="34" charset="-122"/>
                <a:cs typeface="Poppins" pitchFamily="34" charset="-120"/>
              </a:rPr>
              <a:t>Mərhələ 3</a:t>
            </a:r>
            <a:endParaRPr lang="en-US" sz="1600" dirty="0"/>
          </a:p>
        </p:txBody>
      </p:sp>
      <p:sp>
        <p:nvSpPr>
          <p:cNvPr id="21" name="Text 19"/>
          <p:cNvSpPr txBox="1"/>
          <p:nvPr/>
        </p:nvSpPr>
        <p:spPr>
          <a:xfrm>
            <a:off x="6245352" y="5532120"/>
            <a:ext cx="2103120" cy="1280160"/>
          </a:xfrm>
          <a:prstGeom prst="rect">
            <a:avLst/>
          </a:prstGeom>
          <a:noFill/>
          <a:ln/>
        </p:spPr>
        <p:txBody>
          <a:bodyPr wrap="square" lIns="0" tIns="0" rIns="0" bIns="0" rtlCol="0" anchor="t"/>
          <a:lstStyle/>
          <a:p>
            <a:r>
              <a:rPr lang="tr-TR" b="1" dirty="0">
                <a:solidFill>
                  <a:srgbClr val="111111"/>
                </a:solidFill>
                <a:latin typeface="Poppins" pitchFamily="34" charset="0"/>
                <a:cs typeface="Poppins" pitchFamily="34" charset="-120"/>
              </a:rPr>
              <a:t>Genişlənmə və AI təkmilləşdirmə</a:t>
            </a:r>
            <a:endParaRPr lang="en-US" b="1" dirty="0">
              <a:solidFill>
                <a:srgbClr val="111111"/>
              </a:solidFill>
              <a:latin typeface="Poppins" pitchFamily="34" charset="0"/>
              <a:cs typeface="Poppins" pitchFamily="34" charset="-120"/>
            </a:endParaRPr>
          </a:p>
        </p:txBody>
      </p:sp>
      <p:sp>
        <p:nvSpPr>
          <p:cNvPr id="22" name="Text 20"/>
          <p:cNvSpPr txBox="1"/>
          <p:nvPr/>
        </p:nvSpPr>
        <p:spPr>
          <a:xfrm>
            <a:off x="8842248" y="2468880"/>
            <a:ext cx="2377440" cy="640080"/>
          </a:xfrm>
          <a:prstGeom prst="rect">
            <a:avLst/>
          </a:prstGeom>
          <a:noFill/>
          <a:ln/>
        </p:spPr>
        <p:txBody>
          <a:bodyPr wrap="square" lIns="0" tIns="0" rIns="0" bIns="0" rtlCol="0" anchor="ctr"/>
          <a:lstStyle/>
          <a:p>
            <a:pPr marL="0" indent="0" algn="ctr">
              <a:buNone/>
            </a:pPr>
            <a:r>
              <a:rPr lang="az-Latn-AZ" sz="2400" b="1" dirty="0">
                <a:solidFill>
                  <a:srgbClr val="238B3F"/>
                </a:solidFill>
                <a:latin typeface="Poppins" pitchFamily="34" charset="0"/>
                <a:ea typeface="Poppins" pitchFamily="34" charset="-122"/>
                <a:cs typeface="Poppins" pitchFamily="34" charset="-120"/>
              </a:rPr>
              <a:t>3-cü il</a:t>
            </a:r>
            <a:endParaRPr lang="en-US" sz="2400" dirty="0"/>
          </a:p>
        </p:txBody>
      </p:sp>
      <p:sp>
        <p:nvSpPr>
          <p:cNvPr id="23" name="Step circle"/>
          <p:cNvSpPr/>
          <p:nvPr/>
        </p:nvSpPr>
        <p:spPr>
          <a:xfrm>
            <a:off x="9528048" y="3291840"/>
            <a:ext cx="1005840" cy="1005840"/>
          </a:xfrm>
          <a:prstGeom prst="ellipse">
            <a:avLst/>
          </a:prstGeom>
          <a:solidFill>
            <a:srgbClr val="1A6B1A"/>
          </a:solidFill>
          <a:ln w="38100">
            <a:solidFill>
              <a:srgbClr val="FFFFFF"/>
            </a:solidFill>
            <a:prstDash val="solid"/>
          </a:ln>
        </p:spPr>
        <p:txBody>
          <a:bodyPr/>
          <a:lstStyle/>
          <a:p>
            <a:endParaRPr lang="tr-TR"/>
          </a:p>
        </p:txBody>
      </p:sp>
      <p:sp>
        <p:nvSpPr>
          <p:cNvPr id="24" name="Text 22"/>
          <p:cNvSpPr txBox="1"/>
          <p:nvPr/>
        </p:nvSpPr>
        <p:spPr>
          <a:xfrm>
            <a:off x="9528048" y="3291840"/>
            <a:ext cx="1005840" cy="1005840"/>
          </a:xfrm>
          <a:prstGeom prst="rect">
            <a:avLst/>
          </a:prstGeom>
          <a:noFill/>
          <a:ln/>
        </p:spPr>
        <p:txBody>
          <a:bodyPr wrap="square" lIns="0" tIns="0" rIns="0" bIns="0" rtlCol="0" anchor="ctr"/>
          <a:lstStyle/>
          <a:p>
            <a:pPr marL="0" indent="0" algn="ctr">
              <a:buNone/>
            </a:pPr>
            <a:r>
              <a:rPr lang="en-US" sz="2800" b="1" dirty="0">
                <a:solidFill>
                  <a:srgbClr val="FFFFFF"/>
                </a:solidFill>
                <a:latin typeface="Poppins" pitchFamily="34" charset="0"/>
                <a:ea typeface="Poppins" pitchFamily="34" charset="-122"/>
                <a:cs typeface="Poppins" pitchFamily="34" charset="-120"/>
              </a:rPr>
              <a:t>4</a:t>
            </a:r>
            <a:endParaRPr lang="en-US" sz="2800" dirty="0"/>
          </a:p>
        </p:txBody>
      </p:sp>
      <p:sp>
        <p:nvSpPr>
          <p:cNvPr id="25" name="Step card"/>
          <p:cNvSpPr/>
          <p:nvPr/>
        </p:nvSpPr>
        <p:spPr>
          <a:xfrm>
            <a:off x="8842248" y="4754880"/>
            <a:ext cx="2377440" cy="2286000"/>
          </a:xfrm>
          <a:prstGeom prst="roundRect">
            <a:avLst>
              <a:gd name="adj" fmla="val 8000"/>
            </a:avLst>
          </a:prstGeom>
          <a:solidFill>
            <a:srgbClr val="F0FBF1"/>
          </a:solidFill>
          <a:ln w="12700">
            <a:solidFill>
              <a:srgbClr val="D3EAD6"/>
            </a:solidFill>
            <a:prstDash val="solid"/>
          </a:ln>
        </p:spPr>
        <p:txBody>
          <a:bodyPr/>
          <a:lstStyle/>
          <a:p>
            <a:endParaRPr lang="tr-TR"/>
          </a:p>
        </p:txBody>
      </p:sp>
      <p:sp>
        <p:nvSpPr>
          <p:cNvPr id="26" name="Text 24"/>
          <p:cNvSpPr txBox="1"/>
          <p:nvPr/>
        </p:nvSpPr>
        <p:spPr>
          <a:xfrm>
            <a:off x="8979408" y="4983480"/>
            <a:ext cx="2103120" cy="457200"/>
          </a:xfrm>
          <a:prstGeom prst="rect">
            <a:avLst/>
          </a:prstGeom>
          <a:noFill/>
          <a:ln/>
        </p:spPr>
        <p:txBody>
          <a:bodyPr wrap="square" lIns="0" tIns="0" rIns="0" bIns="0" rtlCol="0" anchor="t"/>
          <a:lstStyle/>
          <a:p>
            <a:pPr marL="0" indent="0">
              <a:buNone/>
            </a:pPr>
            <a:r>
              <a:rPr lang="az-Latn-AZ" sz="1600" dirty="0">
                <a:solidFill>
                  <a:srgbClr val="555555"/>
                </a:solidFill>
                <a:latin typeface="Poppins" pitchFamily="34" charset="0"/>
                <a:ea typeface="Poppins" pitchFamily="34" charset="-122"/>
                <a:cs typeface="Poppins" pitchFamily="34" charset="-120"/>
              </a:rPr>
              <a:t>Mərhələ 4</a:t>
            </a:r>
            <a:endParaRPr lang="en-US" sz="1600" dirty="0"/>
          </a:p>
        </p:txBody>
      </p:sp>
      <p:sp>
        <p:nvSpPr>
          <p:cNvPr id="27" name="Text 25"/>
          <p:cNvSpPr txBox="1"/>
          <p:nvPr/>
        </p:nvSpPr>
        <p:spPr>
          <a:xfrm>
            <a:off x="8979408" y="5532120"/>
            <a:ext cx="2103120" cy="1280160"/>
          </a:xfrm>
          <a:prstGeom prst="rect">
            <a:avLst/>
          </a:prstGeom>
          <a:noFill/>
          <a:ln/>
        </p:spPr>
        <p:txBody>
          <a:bodyPr wrap="square" lIns="0" tIns="0" rIns="0" bIns="0" rtlCol="0" anchor="t"/>
          <a:lstStyle/>
          <a:p>
            <a:r>
              <a:rPr lang="tr-TR" b="1" dirty="0">
                <a:solidFill>
                  <a:srgbClr val="111111"/>
                </a:solidFill>
                <a:latin typeface="Poppins" pitchFamily="34" charset="0"/>
                <a:cs typeface="Poppins" pitchFamily="34" charset="-120"/>
              </a:rPr>
              <a:t>Ölkə üzrə miqyaslanma + ilk xarici pilot</a:t>
            </a:r>
            <a:endParaRPr lang="en-US" b="1" dirty="0">
              <a:solidFill>
                <a:srgbClr val="111111"/>
              </a:solidFill>
              <a:latin typeface="Poppins" pitchFamily="34" charset="0"/>
              <a:cs typeface="Poppins" pitchFamily="34" charset="-120"/>
            </a:endParaRPr>
          </a:p>
        </p:txBody>
      </p:sp>
      <p:sp>
        <p:nvSpPr>
          <p:cNvPr id="28" name="Rounded Rectangle 27"/>
          <p:cNvSpPr/>
          <p:nvPr/>
        </p:nvSpPr>
        <p:spPr>
          <a:xfrm>
            <a:off x="640080" y="7300000"/>
            <a:ext cx="10607040" cy="650000"/>
          </a:xfrm>
          <a:prstGeom prst="roundRect">
            <a:avLst/>
          </a:prstGeom>
          <a:solidFill>
            <a:srgbClr val="EEF8F0"/>
          </a:solidFill>
          <a:ln w="12700">
            <a:solidFill>
              <a:srgbClr val="8FD19E"/>
            </a:solidFill>
          </a:ln>
          <a:effectLst/>
        </p:spPr>
        <p:style>
          <a:lnRef idx="1">
            <a:schemeClr val="accent1"/>
          </a:lnRef>
          <a:fillRef idx="3">
            <a:schemeClr val="accent1"/>
          </a:fillRef>
          <a:effectRef idx="2">
            <a:schemeClr val="accent1"/>
          </a:effectRef>
          <a:fontRef idx="minor">
            <a:schemeClr val="lt1"/>
          </a:fontRef>
        </p:style>
        <p:txBody>
          <a:bodyPr wrap="square" lIns="200000" rIns="200000" rtlCol="0" anchor="ctr"/>
          <a:lstStyle/>
          <a:p>
            <a:r>
              <a:rPr lang="tr-TR" sz="1500" b="1" dirty="0">
                <a:solidFill>
                  <a:srgbClr val="1B6E1B"/>
                </a:solidFill>
                <a:latin typeface="Poppins"/>
              </a:rPr>
              <a:t>Hədəfimiz: hər ölkədə vətəndaşın səsini birbaşa məsul quruma çatdırmaq</a:t>
            </a:r>
            <a:endParaRPr lang="az-Latn-AZ" sz="1500" b="1" dirty="0">
              <a:solidFill>
                <a:srgbClr val="1B6E1B"/>
              </a:solidFill>
              <a:latin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74C5B-B96D-6587-F530-AE10DF7A3B9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CAC471-BD55-D116-0BC0-955E6402C446}"/>
              </a:ext>
            </a:extLst>
          </p:cNvPr>
          <p:cNvSpPr>
            <a:spLocks noGrp="1"/>
          </p:cNvSpPr>
          <p:nvPr>
            <p:ph type="title" idx="100" hasCustomPrompt="1"/>
          </p:nvPr>
        </p:nvSpPr>
        <p:spPr>
          <a:xfrm>
            <a:off x="636776" y="390750"/>
            <a:ext cx="5090327" cy="528043"/>
          </a:xfrm>
          <a:prstGeom prst="rect">
            <a:avLst/>
          </a:prstGeom>
          <a:noFill/>
          <a:ln/>
        </p:spPr>
        <p:txBody>
          <a:bodyPr wrap="square" lIns="0" tIns="0" rIns="0" bIns="0" rtlCol="0" anchor="t"/>
          <a:lstStyle/>
          <a:p>
            <a:r>
              <a:rPr lang="az-Latn-AZ" sz="4000" b="1" dirty="0">
                <a:solidFill>
                  <a:srgbClr val="1B6B1B"/>
                </a:solidFill>
                <a:latin typeface="Poppins" pitchFamily="34" charset="0"/>
                <a:ea typeface="Poppins" pitchFamily="34" charset="-122"/>
                <a:cs typeface="Poppins" pitchFamily="34" charset="-120"/>
              </a:rPr>
              <a:t>Komanda üzvləri</a:t>
            </a:r>
            <a:endParaRPr lang="en-US" dirty="0"/>
          </a:p>
        </p:txBody>
      </p:sp>
      <p:pic>
        <p:nvPicPr>
          <p:cNvPr id="3" name="Fatima Naghizada" descr="Fatima Naghizada">
            <a:extLst>
              <a:ext uri="{FF2B5EF4-FFF2-40B4-BE49-F238E27FC236}">
                <a16:creationId xmlns:a16="http://schemas.microsoft.com/office/drawing/2014/main" id="{7361F540-14CB-4888-2B9D-DB4FA60639C1}"/>
              </a:ext>
            </a:extLst>
          </p:cNvPr>
          <p:cNvPicPr>
            <a:picLocks noChangeAspect="1"/>
          </p:cNvPicPr>
          <p:nvPr/>
        </p:nvPicPr>
        <p:blipFill>
          <a:blip r:embed="rId3"/>
          <a:stretch>
            <a:fillRect/>
          </a:stretch>
        </p:blipFill>
        <p:spPr>
          <a:xfrm>
            <a:off x="900797" y="1256740"/>
            <a:ext cx="1858709" cy="1858709"/>
          </a:xfrm>
          <a:prstGeom prst="rect">
            <a:avLst/>
          </a:prstGeom>
        </p:spPr>
      </p:pic>
      <p:sp>
        <p:nvSpPr>
          <p:cNvPr id="4" name="Text 1">
            <a:extLst>
              <a:ext uri="{FF2B5EF4-FFF2-40B4-BE49-F238E27FC236}">
                <a16:creationId xmlns:a16="http://schemas.microsoft.com/office/drawing/2014/main" id="{6A116A96-C265-BC83-8BB6-35E450D07D44}"/>
              </a:ext>
            </a:extLst>
          </p:cNvPr>
          <p:cNvSpPr txBox="1"/>
          <p:nvPr/>
        </p:nvSpPr>
        <p:spPr>
          <a:xfrm>
            <a:off x="140416" y="3263300"/>
            <a:ext cx="3379470" cy="369630"/>
          </a:xfrm>
          <a:prstGeom prst="rect">
            <a:avLst/>
          </a:prstGeom>
          <a:noFill/>
          <a:ln/>
        </p:spPr>
        <p:txBody>
          <a:bodyPr wrap="square" lIns="0" tIns="0" rIns="0" bIns="0" rtlCol="0" anchor="t"/>
          <a:lstStyle/>
          <a:p>
            <a:pPr algn="ctr" defTabSz="1056041"/>
            <a:r>
              <a:rPr lang="en-US" sz="1732" b="1" dirty="0">
                <a:solidFill>
                  <a:srgbClr val="1B6B1B"/>
                </a:solidFill>
                <a:latin typeface="Poppins" pitchFamily="34" charset="0"/>
                <a:ea typeface="Poppins" pitchFamily="34" charset="-122"/>
                <a:cs typeface="Poppins" pitchFamily="34" charset="-120"/>
              </a:rPr>
              <a:t>Product Owner</a:t>
            </a:r>
            <a:endParaRPr lang="en-US" sz="1732" dirty="0">
              <a:solidFill>
                <a:srgbClr val="000000"/>
              </a:solidFill>
              <a:latin typeface="Poppins"/>
            </a:endParaRPr>
          </a:p>
        </p:txBody>
      </p:sp>
      <p:sp>
        <p:nvSpPr>
          <p:cNvPr id="5" name="Text 2">
            <a:extLst>
              <a:ext uri="{FF2B5EF4-FFF2-40B4-BE49-F238E27FC236}">
                <a16:creationId xmlns:a16="http://schemas.microsoft.com/office/drawing/2014/main" id="{9E6B0D42-CE10-C2C7-A353-DE5FDBA6C02B}"/>
              </a:ext>
            </a:extLst>
          </p:cNvPr>
          <p:cNvSpPr txBox="1"/>
          <p:nvPr/>
        </p:nvSpPr>
        <p:spPr>
          <a:xfrm>
            <a:off x="140416" y="3685734"/>
            <a:ext cx="3379470" cy="369630"/>
          </a:xfrm>
          <a:prstGeom prst="rect">
            <a:avLst/>
          </a:prstGeom>
          <a:noFill/>
          <a:ln/>
        </p:spPr>
        <p:txBody>
          <a:bodyPr wrap="square" lIns="0" tIns="0" rIns="0" bIns="0" rtlCol="0" anchor="t"/>
          <a:lstStyle/>
          <a:p>
            <a:pPr algn="ctr" defTabSz="1056041"/>
            <a:r>
              <a:rPr lang="en-US" sz="1732" dirty="0">
                <a:solidFill>
                  <a:srgbClr val="000000"/>
                </a:solidFill>
                <a:latin typeface="Poppins" pitchFamily="34" charset="0"/>
                <a:ea typeface="Poppins" pitchFamily="34" charset="-122"/>
                <a:cs typeface="Poppins" pitchFamily="34" charset="-120"/>
              </a:rPr>
              <a:t>Fatimə </a:t>
            </a:r>
            <a:r>
              <a:rPr lang="en-US" sz="1732" dirty="0" err="1">
                <a:solidFill>
                  <a:srgbClr val="000000"/>
                </a:solidFill>
                <a:latin typeface="Poppins" pitchFamily="34" charset="0"/>
                <a:ea typeface="Poppins" pitchFamily="34" charset="-122"/>
                <a:cs typeface="Poppins" pitchFamily="34" charset="-120"/>
              </a:rPr>
              <a:t>Nağızadə</a:t>
            </a:r>
            <a:endParaRPr lang="en-US" sz="1732" dirty="0">
              <a:solidFill>
                <a:srgbClr val="000000"/>
              </a:solidFill>
              <a:latin typeface="Poppins"/>
            </a:endParaRPr>
          </a:p>
        </p:txBody>
      </p:sp>
      <p:pic>
        <p:nvPicPr>
          <p:cNvPr id="6" name="Kamal Pashayev" descr="Kamal Pashayev">
            <a:extLst>
              <a:ext uri="{FF2B5EF4-FFF2-40B4-BE49-F238E27FC236}">
                <a16:creationId xmlns:a16="http://schemas.microsoft.com/office/drawing/2014/main" id="{2D310119-6182-F346-CAAE-CDD6951E152F}"/>
              </a:ext>
            </a:extLst>
          </p:cNvPr>
          <p:cNvPicPr>
            <a:picLocks noChangeAspect="1"/>
          </p:cNvPicPr>
          <p:nvPr/>
        </p:nvPicPr>
        <p:blipFill>
          <a:blip r:embed="rId4"/>
          <a:stretch>
            <a:fillRect/>
          </a:stretch>
        </p:blipFill>
        <p:spPr>
          <a:xfrm>
            <a:off x="4554849" y="1256740"/>
            <a:ext cx="1858709" cy="1858709"/>
          </a:xfrm>
          <a:prstGeom prst="rect">
            <a:avLst/>
          </a:prstGeom>
        </p:spPr>
      </p:pic>
      <p:sp>
        <p:nvSpPr>
          <p:cNvPr id="7" name="Text 3">
            <a:extLst>
              <a:ext uri="{FF2B5EF4-FFF2-40B4-BE49-F238E27FC236}">
                <a16:creationId xmlns:a16="http://schemas.microsoft.com/office/drawing/2014/main" id="{5B3CAB5D-1BE5-DD2E-93A9-E5EE25D8BF49}"/>
              </a:ext>
            </a:extLst>
          </p:cNvPr>
          <p:cNvSpPr txBox="1"/>
          <p:nvPr/>
        </p:nvSpPr>
        <p:spPr>
          <a:xfrm>
            <a:off x="3794468" y="3263300"/>
            <a:ext cx="3379470" cy="369630"/>
          </a:xfrm>
          <a:prstGeom prst="rect">
            <a:avLst/>
          </a:prstGeom>
          <a:noFill/>
          <a:ln/>
        </p:spPr>
        <p:txBody>
          <a:bodyPr wrap="square" lIns="0" tIns="0" rIns="0" bIns="0" rtlCol="0" anchor="t"/>
          <a:lstStyle/>
          <a:p>
            <a:pPr algn="ctr" defTabSz="1056041"/>
            <a:r>
              <a:rPr lang="en-US" sz="1732" b="1" dirty="0">
                <a:solidFill>
                  <a:srgbClr val="1B6B1B"/>
                </a:solidFill>
                <a:latin typeface="Poppins" pitchFamily="34" charset="0"/>
                <a:ea typeface="Poppins" pitchFamily="34" charset="-122"/>
                <a:cs typeface="Poppins" pitchFamily="34" charset="-120"/>
              </a:rPr>
              <a:t>Software Engineer</a:t>
            </a:r>
            <a:endParaRPr lang="en-US" sz="1732" dirty="0">
              <a:solidFill>
                <a:srgbClr val="000000"/>
              </a:solidFill>
              <a:latin typeface="Poppins"/>
            </a:endParaRPr>
          </a:p>
        </p:txBody>
      </p:sp>
      <p:sp>
        <p:nvSpPr>
          <p:cNvPr id="8" name="Text 4">
            <a:extLst>
              <a:ext uri="{FF2B5EF4-FFF2-40B4-BE49-F238E27FC236}">
                <a16:creationId xmlns:a16="http://schemas.microsoft.com/office/drawing/2014/main" id="{352936BB-BB63-77C5-84F3-BF9A7E09062C}"/>
              </a:ext>
            </a:extLst>
          </p:cNvPr>
          <p:cNvSpPr txBox="1"/>
          <p:nvPr/>
        </p:nvSpPr>
        <p:spPr>
          <a:xfrm>
            <a:off x="3794468" y="3685734"/>
            <a:ext cx="3379470" cy="369630"/>
          </a:xfrm>
          <a:prstGeom prst="rect">
            <a:avLst/>
          </a:prstGeom>
          <a:noFill/>
          <a:ln/>
        </p:spPr>
        <p:txBody>
          <a:bodyPr wrap="square" lIns="0" tIns="0" rIns="0" bIns="0" rtlCol="0" anchor="t"/>
          <a:lstStyle/>
          <a:p>
            <a:pPr algn="ctr" defTabSz="1056041"/>
            <a:r>
              <a:rPr lang="en-US" sz="1732" dirty="0">
                <a:solidFill>
                  <a:srgbClr val="000000"/>
                </a:solidFill>
                <a:latin typeface="Poppins" pitchFamily="34" charset="0"/>
                <a:ea typeface="Poppins" pitchFamily="34" charset="-122"/>
                <a:cs typeface="Poppins" pitchFamily="34" charset="-120"/>
              </a:rPr>
              <a:t>Kamal Paşayev</a:t>
            </a:r>
            <a:endParaRPr lang="en-US" sz="1732" dirty="0">
              <a:solidFill>
                <a:srgbClr val="000000"/>
              </a:solidFill>
              <a:latin typeface="Poppins"/>
            </a:endParaRPr>
          </a:p>
        </p:txBody>
      </p:sp>
      <p:pic>
        <p:nvPicPr>
          <p:cNvPr id="9" name="Aytaj Maharramova" descr="Aytaj Maharramova">
            <a:extLst>
              <a:ext uri="{FF2B5EF4-FFF2-40B4-BE49-F238E27FC236}">
                <a16:creationId xmlns:a16="http://schemas.microsoft.com/office/drawing/2014/main" id="{7C696B44-D865-93B0-6C8B-F4961A9F2ABC}"/>
              </a:ext>
            </a:extLst>
          </p:cNvPr>
          <p:cNvPicPr>
            <a:picLocks noChangeAspect="1"/>
          </p:cNvPicPr>
          <p:nvPr/>
        </p:nvPicPr>
        <p:blipFill>
          <a:blip r:embed="rId5"/>
          <a:stretch>
            <a:fillRect/>
          </a:stretch>
        </p:blipFill>
        <p:spPr>
          <a:xfrm>
            <a:off x="8219462" y="1256740"/>
            <a:ext cx="1858709" cy="1858709"/>
          </a:xfrm>
          <a:prstGeom prst="rect">
            <a:avLst/>
          </a:prstGeom>
        </p:spPr>
      </p:pic>
      <p:sp>
        <p:nvSpPr>
          <p:cNvPr id="10" name="Text 5">
            <a:extLst>
              <a:ext uri="{FF2B5EF4-FFF2-40B4-BE49-F238E27FC236}">
                <a16:creationId xmlns:a16="http://schemas.microsoft.com/office/drawing/2014/main" id="{18483373-75B2-2930-8792-BD5463AED1E3}"/>
              </a:ext>
            </a:extLst>
          </p:cNvPr>
          <p:cNvSpPr txBox="1"/>
          <p:nvPr/>
        </p:nvSpPr>
        <p:spPr>
          <a:xfrm>
            <a:off x="7459081" y="3263300"/>
            <a:ext cx="3379470" cy="369630"/>
          </a:xfrm>
          <a:prstGeom prst="rect">
            <a:avLst/>
          </a:prstGeom>
          <a:noFill/>
          <a:ln/>
        </p:spPr>
        <p:txBody>
          <a:bodyPr wrap="square" lIns="0" tIns="0" rIns="0" bIns="0" rtlCol="0" anchor="t"/>
          <a:lstStyle/>
          <a:p>
            <a:pPr algn="ctr" defTabSz="1056041"/>
            <a:r>
              <a:rPr lang="en-US" sz="1732" b="1" dirty="0">
                <a:solidFill>
                  <a:srgbClr val="1B6B1B"/>
                </a:solidFill>
                <a:latin typeface="Poppins" pitchFamily="34" charset="0"/>
                <a:ea typeface="Poppins" pitchFamily="34" charset="-122"/>
                <a:cs typeface="Poppins" pitchFamily="34" charset="-120"/>
              </a:rPr>
              <a:t>UI/UX DESIGNER</a:t>
            </a:r>
            <a:endParaRPr lang="en-US" sz="1732" dirty="0">
              <a:solidFill>
                <a:srgbClr val="000000"/>
              </a:solidFill>
              <a:latin typeface="Poppins"/>
            </a:endParaRPr>
          </a:p>
        </p:txBody>
      </p:sp>
      <p:sp>
        <p:nvSpPr>
          <p:cNvPr id="11" name="Text 6">
            <a:extLst>
              <a:ext uri="{FF2B5EF4-FFF2-40B4-BE49-F238E27FC236}">
                <a16:creationId xmlns:a16="http://schemas.microsoft.com/office/drawing/2014/main" id="{6195304B-C05E-E15E-5CC6-CA06A7291747}"/>
              </a:ext>
            </a:extLst>
          </p:cNvPr>
          <p:cNvSpPr txBox="1"/>
          <p:nvPr/>
        </p:nvSpPr>
        <p:spPr>
          <a:xfrm>
            <a:off x="7459081" y="3685734"/>
            <a:ext cx="3379470" cy="369630"/>
          </a:xfrm>
          <a:prstGeom prst="rect">
            <a:avLst/>
          </a:prstGeom>
          <a:noFill/>
          <a:ln/>
        </p:spPr>
        <p:txBody>
          <a:bodyPr wrap="square" lIns="0" tIns="0" rIns="0" bIns="0" rtlCol="0" anchor="t"/>
          <a:lstStyle/>
          <a:p>
            <a:pPr algn="ctr" defTabSz="1056041"/>
            <a:r>
              <a:rPr lang="en-US" sz="1732" dirty="0">
                <a:solidFill>
                  <a:srgbClr val="000000"/>
                </a:solidFill>
                <a:latin typeface="Poppins" pitchFamily="34" charset="0"/>
                <a:ea typeface="Poppins" pitchFamily="34" charset="-122"/>
                <a:cs typeface="Poppins" pitchFamily="34" charset="-120"/>
              </a:rPr>
              <a:t>Aytac </a:t>
            </a:r>
            <a:r>
              <a:rPr lang="en-US" sz="1732" dirty="0" err="1">
                <a:solidFill>
                  <a:srgbClr val="000000"/>
                </a:solidFill>
                <a:latin typeface="Poppins" pitchFamily="34" charset="0"/>
                <a:ea typeface="Poppins" pitchFamily="34" charset="-122"/>
                <a:cs typeface="Poppins" pitchFamily="34" charset="-120"/>
              </a:rPr>
              <a:t>Məhərrəmova</a:t>
            </a:r>
            <a:endParaRPr lang="en-US" sz="1732" dirty="0">
              <a:solidFill>
                <a:srgbClr val="000000"/>
              </a:solidFill>
              <a:latin typeface="Poppins"/>
            </a:endParaRPr>
          </a:p>
        </p:txBody>
      </p:sp>
      <p:pic>
        <p:nvPicPr>
          <p:cNvPr id="12" name="Madina Jafarova" descr="Madina Jafarova">
            <a:extLst>
              <a:ext uri="{FF2B5EF4-FFF2-40B4-BE49-F238E27FC236}">
                <a16:creationId xmlns:a16="http://schemas.microsoft.com/office/drawing/2014/main" id="{5279D1B9-4818-1D30-AA1F-9C42D14361A8}"/>
              </a:ext>
            </a:extLst>
          </p:cNvPr>
          <p:cNvPicPr>
            <a:picLocks noChangeAspect="1"/>
          </p:cNvPicPr>
          <p:nvPr/>
        </p:nvPicPr>
        <p:blipFill>
          <a:blip r:embed="rId6"/>
          <a:stretch>
            <a:fillRect/>
          </a:stretch>
        </p:blipFill>
        <p:spPr>
          <a:xfrm>
            <a:off x="3108013" y="4150411"/>
            <a:ext cx="1858709" cy="1858709"/>
          </a:xfrm>
          <a:prstGeom prst="rect">
            <a:avLst/>
          </a:prstGeom>
        </p:spPr>
      </p:pic>
      <p:sp>
        <p:nvSpPr>
          <p:cNvPr id="13" name="Text 7">
            <a:extLst>
              <a:ext uri="{FF2B5EF4-FFF2-40B4-BE49-F238E27FC236}">
                <a16:creationId xmlns:a16="http://schemas.microsoft.com/office/drawing/2014/main" id="{73054F48-7419-4052-D3E4-5AEC4628FF71}"/>
              </a:ext>
            </a:extLst>
          </p:cNvPr>
          <p:cNvSpPr txBox="1"/>
          <p:nvPr/>
        </p:nvSpPr>
        <p:spPr>
          <a:xfrm>
            <a:off x="2347633" y="6156971"/>
            <a:ext cx="3379470" cy="369630"/>
          </a:xfrm>
          <a:prstGeom prst="rect">
            <a:avLst/>
          </a:prstGeom>
          <a:noFill/>
          <a:ln/>
        </p:spPr>
        <p:txBody>
          <a:bodyPr wrap="square" lIns="0" tIns="0" rIns="0" bIns="0" rtlCol="0" anchor="t"/>
          <a:lstStyle/>
          <a:p>
            <a:pPr algn="ctr" defTabSz="1056041"/>
            <a:r>
              <a:rPr lang="en-US" sz="1732" b="1" dirty="0">
                <a:solidFill>
                  <a:srgbClr val="1B6B1B"/>
                </a:solidFill>
                <a:latin typeface="Poppins" pitchFamily="34" charset="0"/>
                <a:ea typeface="Poppins" pitchFamily="34" charset="-122"/>
                <a:cs typeface="Poppins" pitchFamily="34" charset="-120"/>
              </a:rPr>
              <a:t>Business Analyst</a:t>
            </a:r>
            <a:endParaRPr lang="en-US" sz="1732" dirty="0">
              <a:solidFill>
                <a:srgbClr val="000000"/>
              </a:solidFill>
              <a:latin typeface="Poppins"/>
            </a:endParaRPr>
          </a:p>
        </p:txBody>
      </p:sp>
      <p:sp>
        <p:nvSpPr>
          <p:cNvPr id="14" name="Text 8">
            <a:extLst>
              <a:ext uri="{FF2B5EF4-FFF2-40B4-BE49-F238E27FC236}">
                <a16:creationId xmlns:a16="http://schemas.microsoft.com/office/drawing/2014/main" id="{7491DB19-BE21-EC61-FC30-DFA46C8E4127}"/>
              </a:ext>
            </a:extLst>
          </p:cNvPr>
          <p:cNvSpPr txBox="1"/>
          <p:nvPr/>
        </p:nvSpPr>
        <p:spPr>
          <a:xfrm>
            <a:off x="2347633" y="6579405"/>
            <a:ext cx="3379470" cy="369630"/>
          </a:xfrm>
          <a:prstGeom prst="rect">
            <a:avLst/>
          </a:prstGeom>
          <a:noFill/>
          <a:ln/>
        </p:spPr>
        <p:txBody>
          <a:bodyPr wrap="square" lIns="0" tIns="0" rIns="0" bIns="0" rtlCol="0" anchor="t"/>
          <a:lstStyle/>
          <a:p>
            <a:pPr algn="ctr" defTabSz="1056041"/>
            <a:r>
              <a:rPr lang="en-US" sz="1732" dirty="0" err="1">
                <a:solidFill>
                  <a:srgbClr val="000000"/>
                </a:solidFill>
                <a:latin typeface="Poppins" pitchFamily="34" charset="0"/>
                <a:ea typeface="Poppins" pitchFamily="34" charset="-122"/>
                <a:cs typeface="Poppins" pitchFamily="34" charset="-120"/>
              </a:rPr>
              <a:t>Mədinə</a:t>
            </a:r>
            <a:r>
              <a:rPr lang="en-US" sz="1732" dirty="0">
                <a:solidFill>
                  <a:srgbClr val="000000"/>
                </a:solidFill>
                <a:latin typeface="Poppins" pitchFamily="34" charset="0"/>
                <a:ea typeface="Poppins" pitchFamily="34" charset="-122"/>
                <a:cs typeface="Poppins" pitchFamily="34" charset="-120"/>
              </a:rPr>
              <a:t> </a:t>
            </a:r>
            <a:r>
              <a:rPr lang="en-US" sz="1732" dirty="0" err="1">
                <a:solidFill>
                  <a:srgbClr val="000000"/>
                </a:solidFill>
                <a:latin typeface="Poppins" pitchFamily="34" charset="0"/>
                <a:ea typeface="Poppins" pitchFamily="34" charset="-122"/>
                <a:cs typeface="Poppins" pitchFamily="34" charset="-120"/>
              </a:rPr>
              <a:t>Cəfərova</a:t>
            </a:r>
            <a:endParaRPr lang="en-US" sz="1732" dirty="0">
              <a:solidFill>
                <a:srgbClr val="000000"/>
              </a:solidFill>
              <a:latin typeface="Poppins"/>
            </a:endParaRPr>
          </a:p>
        </p:txBody>
      </p:sp>
      <p:pic>
        <p:nvPicPr>
          <p:cNvPr id="15" name="Huseyn Azimzade" descr="Huseyn Azimzade">
            <a:extLst>
              <a:ext uri="{FF2B5EF4-FFF2-40B4-BE49-F238E27FC236}">
                <a16:creationId xmlns:a16="http://schemas.microsoft.com/office/drawing/2014/main" id="{BFFD497C-02E4-AA57-134E-086270A10437}"/>
              </a:ext>
            </a:extLst>
          </p:cNvPr>
          <p:cNvPicPr>
            <a:picLocks noChangeAspect="1"/>
          </p:cNvPicPr>
          <p:nvPr/>
        </p:nvPicPr>
        <p:blipFill>
          <a:blip r:embed="rId7"/>
          <a:stretch>
            <a:fillRect/>
          </a:stretch>
        </p:blipFill>
        <p:spPr>
          <a:xfrm>
            <a:off x="6783187" y="4150411"/>
            <a:ext cx="1858709" cy="1858709"/>
          </a:xfrm>
          <a:prstGeom prst="rect">
            <a:avLst/>
          </a:prstGeom>
        </p:spPr>
      </p:pic>
      <p:sp>
        <p:nvSpPr>
          <p:cNvPr id="16" name="Text 9">
            <a:extLst>
              <a:ext uri="{FF2B5EF4-FFF2-40B4-BE49-F238E27FC236}">
                <a16:creationId xmlns:a16="http://schemas.microsoft.com/office/drawing/2014/main" id="{ABAFC144-C13D-38DE-B23B-1F8B9D8B5484}"/>
              </a:ext>
            </a:extLst>
          </p:cNvPr>
          <p:cNvSpPr txBox="1"/>
          <p:nvPr/>
        </p:nvSpPr>
        <p:spPr>
          <a:xfrm>
            <a:off x="6022806" y="6156971"/>
            <a:ext cx="3379470" cy="369630"/>
          </a:xfrm>
          <a:prstGeom prst="rect">
            <a:avLst/>
          </a:prstGeom>
          <a:noFill/>
          <a:ln/>
        </p:spPr>
        <p:txBody>
          <a:bodyPr wrap="square" lIns="0" tIns="0" rIns="0" bIns="0" rtlCol="0" anchor="t"/>
          <a:lstStyle/>
          <a:p>
            <a:pPr algn="ctr" defTabSz="1056041"/>
            <a:r>
              <a:rPr lang="en-US" sz="1732" b="1" dirty="0">
                <a:solidFill>
                  <a:srgbClr val="1B6B1B"/>
                </a:solidFill>
                <a:latin typeface="Poppins" pitchFamily="34" charset="0"/>
                <a:ea typeface="Poppins" pitchFamily="34" charset="-122"/>
                <a:cs typeface="Poppins" pitchFamily="34" charset="-120"/>
              </a:rPr>
              <a:t>AI Engineer</a:t>
            </a:r>
            <a:endParaRPr lang="en-US" sz="1732" dirty="0">
              <a:solidFill>
                <a:srgbClr val="000000"/>
              </a:solidFill>
              <a:latin typeface="Poppins"/>
            </a:endParaRPr>
          </a:p>
        </p:txBody>
      </p:sp>
      <p:sp>
        <p:nvSpPr>
          <p:cNvPr id="17" name="Text 10">
            <a:extLst>
              <a:ext uri="{FF2B5EF4-FFF2-40B4-BE49-F238E27FC236}">
                <a16:creationId xmlns:a16="http://schemas.microsoft.com/office/drawing/2014/main" id="{ADF830B3-89B7-8CF0-1674-06CA17DEA3FC}"/>
              </a:ext>
            </a:extLst>
          </p:cNvPr>
          <p:cNvSpPr txBox="1"/>
          <p:nvPr/>
        </p:nvSpPr>
        <p:spPr>
          <a:xfrm>
            <a:off x="6022806" y="6579405"/>
            <a:ext cx="3379470" cy="369630"/>
          </a:xfrm>
          <a:prstGeom prst="rect">
            <a:avLst/>
          </a:prstGeom>
          <a:noFill/>
          <a:ln/>
        </p:spPr>
        <p:txBody>
          <a:bodyPr wrap="square" lIns="0" tIns="0" rIns="0" bIns="0" rtlCol="0" anchor="t"/>
          <a:lstStyle/>
          <a:p>
            <a:pPr algn="ctr" defTabSz="1056041"/>
            <a:r>
              <a:rPr lang="en-US" sz="1732" dirty="0">
                <a:solidFill>
                  <a:srgbClr val="000000"/>
                </a:solidFill>
                <a:latin typeface="Poppins" pitchFamily="34" charset="0"/>
                <a:ea typeface="Poppins" pitchFamily="34" charset="-122"/>
                <a:cs typeface="Poppins" pitchFamily="34" charset="-120"/>
              </a:rPr>
              <a:t>Hüseyn </a:t>
            </a:r>
            <a:r>
              <a:rPr lang="en-US" sz="1732" dirty="0" err="1">
                <a:solidFill>
                  <a:srgbClr val="000000"/>
                </a:solidFill>
                <a:latin typeface="Poppins" pitchFamily="34" charset="0"/>
                <a:ea typeface="Poppins" pitchFamily="34" charset="-122"/>
                <a:cs typeface="Poppins" pitchFamily="34" charset="-120"/>
              </a:rPr>
              <a:t>Əzimzadə</a:t>
            </a:r>
            <a:endParaRPr lang="en-US" sz="1732" dirty="0">
              <a:solidFill>
                <a:srgbClr val="000000"/>
              </a:solidFill>
              <a:latin typeface="Poppins"/>
            </a:endParaRPr>
          </a:p>
        </p:txBody>
      </p:sp>
      <p:pic>
        <p:nvPicPr>
          <p:cNvPr id="18" name="Image 5" descr="ADNSU, BA Programs ASOIU, SABAH">
            <a:extLst>
              <a:ext uri="{FF2B5EF4-FFF2-40B4-BE49-F238E27FC236}">
                <a16:creationId xmlns:a16="http://schemas.microsoft.com/office/drawing/2014/main" id="{15EFC1E2-3822-3C6D-F87A-08ED127CF04A}"/>
              </a:ext>
            </a:extLst>
          </p:cNvPr>
          <p:cNvPicPr>
            <a:picLocks noChangeAspect="1"/>
          </p:cNvPicPr>
          <p:nvPr/>
        </p:nvPicPr>
        <p:blipFill>
          <a:blip r:embed="rId8"/>
          <a:stretch>
            <a:fillRect/>
          </a:stretch>
        </p:blipFill>
        <p:spPr>
          <a:xfrm>
            <a:off x="3303389" y="7234177"/>
            <a:ext cx="5280422" cy="1094221"/>
          </a:xfrm>
          <a:prstGeom prst="rect">
            <a:avLst/>
          </a:prstGeom>
        </p:spPr>
      </p:pic>
    </p:spTree>
    <p:extLst>
      <p:ext uri="{BB962C8B-B14F-4D97-AF65-F5344CB8AC3E}">
        <p14:creationId xmlns:p14="http://schemas.microsoft.com/office/powerpoint/2010/main" val="2649822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hone" descr="SmartLine resident app on a phone"/>
          <p:cNvPicPr>
            <a:picLocks noChangeAspect="1"/>
          </p:cNvPicPr>
          <p:nvPr/>
        </p:nvPicPr>
        <p:blipFill>
          <a:blip r:embed="rId3"/>
          <a:stretch>
            <a:fillRect/>
          </a:stretch>
        </p:blipFill>
        <p:spPr>
          <a:xfrm>
            <a:off x="6539472" y="0"/>
            <a:ext cx="7244739" cy="11300103"/>
          </a:xfrm>
          <a:prstGeom prst="rect">
            <a:avLst/>
          </a:prstGeom>
        </p:spPr>
      </p:pic>
      <p:sp>
        <p:nvSpPr>
          <p:cNvPr id="4" name="Text 0"/>
          <p:cNvSpPr txBox="1"/>
          <p:nvPr/>
        </p:nvSpPr>
        <p:spPr>
          <a:xfrm>
            <a:off x="900797" y="2270581"/>
            <a:ext cx="6547723" cy="1372910"/>
          </a:xfrm>
          <a:prstGeom prst="rect">
            <a:avLst/>
          </a:prstGeom>
          <a:noFill/>
          <a:ln/>
        </p:spPr>
        <p:txBody>
          <a:bodyPr wrap="square" lIns="0" tIns="0" rIns="0" bIns="0" rtlCol="0" anchor="ctr"/>
          <a:lstStyle/>
          <a:p>
            <a:r>
              <a:rPr lang="az-Latn-AZ" sz="4000" dirty="0">
                <a:latin typeface="Poppins" pitchFamily="34" charset="0"/>
                <a:ea typeface="Poppins" pitchFamily="34" charset="-122"/>
                <a:cs typeface="Poppins" pitchFamily="34" charset="-120"/>
              </a:rPr>
              <a:t>Diqqətinizə</a:t>
            </a:r>
            <a:r>
              <a:rPr lang="az-Latn-AZ" sz="3465" dirty="0">
                <a:latin typeface="Poppins Light" pitchFamily="34" charset="0"/>
                <a:ea typeface="Poppins Light" pitchFamily="34" charset="-122"/>
                <a:cs typeface="Poppins Light" pitchFamily="34" charset="-120"/>
              </a:rPr>
              <a:t> </a:t>
            </a:r>
            <a:r>
              <a:rPr lang="az-Latn-AZ" sz="4000" dirty="0">
                <a:latin typeface="Poppins Light" pitchFamily="34" charset="0"/>
                <a:ea typeface="Poppins Light" pitchFamily="34" charset="-122"/>
                <a:cs typeface="Poppins Light" pitchFamily="34" charset="-120"/>
              </a:rPr>
              <a:t>görə</a:t>
            </a:r>
            <a:endParaRPr lang="en-US" sz="4000" dirty="0"/>
          </a:p>
        </p:txBody>
      </p:sp>
      <p:sp>
        <p:nvSpPr>
          <p:cNvPr id="6" name="Text 1">
            <a:extLst>
              <a:ext uri="{FF2B5EF4-FFF2-40B4-BE49-F238E27FC236}">
                <a16:creationId xmlns:a16="http://schemas.microsoft.com/office/drawing/2014/main" id="{014B371F-D7EF-B6AF-6245-D9D015CCB45B}"/>
              </a:ext>
            </a:extLst>
          </p:cNvPr>
          <p:cNvSpPr txBox="1"/>
          <p:nvPr/>
        </p:nvSpPr>
        <p:spPr>
          <a:xfrm>
            <a:off x="900797" y="3590686"/>
            <a:ext cx="6547723" cy="1161693"/>
          </a:xfrm>
          <a:prstGeom prst="rect">
            <a:avLst/>
          </a:prstGeom>
          <a:noFill/>
          <a:ln/>
        </p:spPr>
        <p:txBody>
          <a:bodyPr wrap="square" lIns="0" tIns="0" rIns="0" bIns="0" rtlCol="0" anchor="ctr"/>
          <a:lstStyle/>
          <a:p>
            <a:r>
              <a:rPr lang="en-US" sz="8800" b="1" i="1" dirty="0" err="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Çox</a:t>
            </a:r>
            <a:r>
              <a:rPr lang="en-US" sz="8800" b="1" i="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8800" b="1" i="1" dirty="0" err="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sağolun</a:t>
            </a:r>
            <a:endParaRPr lang="en-US" sz="8800" b="1" i="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martLine">
  <a:themeElements>
    <a:clrScheme name="SmartLine">
      <a:dk1>
        <a:srgbClr val="000000"/>
      </a:dk1>
      <a:lt1>
        <a:srgbClr val="FFFFFF"/>
      </a:lt1>
      <a:dk2>
        <a:srgbClr val="1B6B1B"/>
      </a:dk2>
      <a:lt2>
        <a:srgbClr val="F3FCF3"/>
      </a:lt2>
      <a:accent1>
        <a:srgbClr val="238B45"/>
      </a:accent1>
      <a:accent2>
        <a:srgbClr val="52CC2E"/>
      </a:accent2>
      <a:accent3>
        <a:srgbClr val="F5A623"/>
      </a:accent3>
      <a:accent4>
        <a:srgbClr val="8A94A0"/>
      </a:accent4>
      <a:accent5>
        <a:srgbClr val="1B6B1B"/>
      </a:accent5>
      <a:accent6>
        <a:srgbClr val="C9E8CF"/>
      </a:accent6>
      <a:hlink>
        <a:srgbClr val="238B45"/>
      </a:hlink>
      <a:folHlink>
        <a:srgbClr val="1B6B1B"/>
      </a:folHlink>
    </a:clrScheme>
    <a:fontScheme name="SmartLin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TotalTime>
  <Words>498</Words>
  <Application>Microsoft Office PowerPoint</Application>
  <PresentationFormat>Custom</PresentationFormat>
  <Paragraphs>118</Paragraphs>
  <Slides>13</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Arial</vt:lpstr>
      <vt:lpstr>Cambria</vt:lpstr>
      <vt:lpstr>Poppins</vt:lpstr>
      <vt:lpstr>Poppins Light</vt:lpstr>
      <vt:lpstr>Office Theme</vt:lpstr>
      <vt:lpstr>SmartLine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Komanda üzvləri</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SmartLine</dc:title>
  <dc:subject>PptxGenJS Presentation</dc:subject>
  <dc:creator>SmartLine</dc:creator>
  <cp:lastModifiedBy>H H</cp:lastModifiedBy>
  <cp:revision>20</cp:revision>
  <dcterms:created xsi:type="dcterms:W3CDTF">2026-10-20T16:14:31Z</dcterms:created>
  <dcterms:modified xsi:type="dcterms:W3CDTF">2026-10-25T15:58:42Z</dcterms:modified>
</cp:coreProperties>
</file>